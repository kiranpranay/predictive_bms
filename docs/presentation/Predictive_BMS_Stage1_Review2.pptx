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committee members and my guide Dr. M. Rupesh.</a:t>
            </a:r>
          </a:p>
          <a:p>
            <a:r>
              <a:t>I am Muskan Sulathana (Roll No: 23WH1A0208), presenting my Major Project Stage-1 Review-2</a:t>
            </a:r>
          </a:p>
          <a:p>
            <a:r>
              <a:t>on the 'Predictive Thermal Battery Management System for Li-ion Battery Packs'.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outline of my Stage-1 Review-2 presentation. We will cover the foundation,</a:t>
            </a:r>
          </a:p>
          <a:p>
            <a:r>
              <a:t>the literature survey and base paper, system architecture, KiCad simulation results,</a:t>
            </a:r>
          </a:p>
          <a:p>
            <a:r>
              <a:t>and our hardware prototype and live dashboard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abstract summarizes our core innovation: replacing reactive fixed limits</a:t>
            </a:r>
          </a:p>
          <a:p>
            <a:r>
              <a:t>with a real-time, physics-based Kalman observer running directly on an embedded ESP32.</a:t>
            </a:r>
          </a:p>
          <a:p>
            <a:r>
              <a:t>It operates 5.0 minutes earlier than conventional BMS, ensuring true preventative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fundamental problem in battery safety is that conventional BMS units are purely reactive.</a:t>
            </a:r>
          </a:p>
          <a:p>
            <a:r>
              <a:t>By the time an external surface thermistor reaches 55 °C, internal chemical decomposition is</a:t>
            </a:r>
          </a:p>
          <a:p>
            <a:r>
              <a:t>already self-accelerating. We need an observer that estimates internal heat in Watts.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Part 1 of our literature survey covering thermal runaway mechanisms, BMS overviews,</a:t>
            </a:r>
          </a:p>
          <a:p>
            <a:r>
              <a:t>commercial 18650 safety devices, fault diagnosis taxonomies, and early-warning reviews.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covers online EV fault diagnostics, our Base Paper by Ojo et al. in IEEE TIE 2021,</a:t>
            </a:r>
          </a:p>
          <a:p>
            <a:r>
              <a:t>model-based warning methods, online parameter identification, and cloud architectures.</a:t>
            </a:r>
          </a:p>
          <a:p>
            <a:r>
              <a:t>Paper [7] is our designated Base Paper.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contrast the thermal physics with the research gaps identified in our survey.</a:t>
            </a:r>
          </a:p>
          <a:p>
            <a:r>
              <a:t>The critical gap is the lack of an embedded, low-cost observer that isolates abnormal heat in Watts.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five objectives map directly to the work executed for Stage-1. Objectives 1 and 2 established the</a:t>
            </a:r>
          </a:p>
          <a:p>
            <a:r>
              <a:t>system architecture, while Objectives 3, 4, and 5 cover mathematical modeling, firmware,</a:t>
            </a:r>
          </a:p>
          <a:p>
            <a:r>
              <a:t>hardware construction, and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shows the 5 Hz firmware safety loop. In each 200 ms step, raw sensor signals are</a:t>
            </a:r>
          </a:p>
          <a:p>
            <a:r>
              <a:t>calibrated, median-filtered, fed into the Kalman observer, and evaluated against safety rules.</a:t>
            </a:r>
          </a:p>
          <a:p>
            <a:r>
              <a:t>Wi-Fi telemetry runs strictly out-of-band and cannot block safety execution.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system block diagram. By tapping the LM2596 auxiliary supply before the current sensor,</a:t>
            </a:r>
          </a:p>
          <a:p>
            <a:r>
              <a:t>we ensure the supervisor measures true battery rest current, which is critical for detecting self-discharge leakage.</a:t>
            </a:r>
          </a:p>
          <a:p>
            <a:r>
              <a:t>Layer A acts as a hardware backstop, while Layer B provides predictive software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thermal model. Heat is generated in the core via known Joule heating I²R plus</a:t>
            </a:r>
          </a:p>
          <a:p>
            <a:r>
              <a:t>any abnormal fault heat Q_ab. Heat conducts from the core to the surface across R_core,</a:t>
            </a:r>
          </a:p>
          <a:p>
            <a:r>
              <a:t>and convects into ambient air across R_air.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KiCad 10, we modeled the thermal equations as an equivalent electrical network.</a:t>
            </a:r>
          </a:p>
          <a:p>
            <a:r>
              <a:t>Capacitors represent thermal masses and resistors represent thermal resistances.</a:t>
            </a:r>
          </a:p>
          <a:p>
            <a:r>
              <a:t>The transient SPICE simulation confirms our thermal time constant of 22.5 minutes.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transient simulation results from KiCad / ngspice. A 1 Watt heat input produces</a:t>
            </a:r>
          </a:p>
          <a:p>
            <a:r>
              <a:t>an immediate core rise and a delayed surface rise settling at 30 °C above ambient.</a:t>
            </a:r>
          </a:p>
          <a:p>
            <a:r>
              <a:t>This validates our state transition model used in firmware.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inject an internal defect generating 1.5 W inside Cell 2 under 3 A load.</a:t>
            </a:r>
          </a:p>
          <a:p>
            <a:r>
              <a:t>The observer detects the abnormal heat and opens both contactor relays at t = 112 seconds,</a:t>
            </a:r>
          </a:p>
          <a:p>
            <a:r>
              <a:t>when the cell surface is only 28.1 °C. The 5-minute forecast predicts temperature within 0.12 °C RMS error.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is our most important performance result: our predictive BMS acts 5.0 minutes</a:t>
            </a:r>
          </a:p>
          <a:p>
            <a:r>
              <a:t>earlier and keeps the cell 27.1 °C cooler than a conventional fixed-threshold BMS.</a:t>
            </a:r>
          </a:p>
          <a:p>
            <a:r>
              <a:t>This prevents the cell from ever entering exothermic chemical decomposition.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hardware: Board A conditions the four cell tap voltages. High-impedance 330k/56k</a:t>
            </a:r>
          </a:p>
          <a:p>
            <a:r>
              <a:t>dividers scale 16.8 V down to 2.44 V, while 10k/100nF RC filters suppress noise. The ADS1115</a:t>
            </a:r>
          </a:p>
          <a:p>
            <a:r>
              <a:t>gives 16-bit resolution, which is essential for tracking small self-discharge leaks.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 B hosts the ESP32 supervisor, current sensing, relay controls, and thermistor conditioning.</a:t>
            </a:r>
          </a:p>
          <a:p>
            <a:r>
              <a:t>To enable immediate prototype validation, we wired the ACS712 Hall-effect sensor on GPIO39.</a:t>
            </a:r>
          </a:p>
          <a:p>
            <a:r>
              <a:t>The perfboard wiring is currently underway, and the firmware has been verified live on the ESP32.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live snapshot of our ESP32 web dashboard. The red banner clearly alerts that the battery</a:t>
            </a:r>
          </a:p>
          <a:p>
            <a:r>
              <a:t>is disconnected and sensors are unattached during bring-up, while contactors remain fail-safe open.</a:t>
            </a:r>
          </a:p>
          <a:p>
            <a:r>
              <a:t>This dashboard runs directly from the ESP32 over its own Wi-Fi Access 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Stage-1 has met all its core milestones: the mathematical formulation is proven,</a:t>
            </a:r>
          </a:p>
          <a:p>
            <a:r>
              <a:t>circuit simulations and testbenches are verified, the firmware is live on ESP32, and Board A is fully constructed.</a:t>
            </a:r>
          </a:p>
          <a:p>
            <a:r>
              <a:t>Board B assembly is currently underway for final Stage-2 pack testing.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project timeline. Milestones 1, 2, and 3 are fully completed. Milestone 4 is</a:t>
            </a:r>
          </a:p>
          <a:p>
            <a:r>
              <a:t>currently in progress with Board A completed and Board B bring-up underway, and Milestone 5</a:t>
            </a:r>
          </a:p>
          <a:p>
            <a:r>
              <a:t>is planned for Stage-2.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references 1 through 5, formatted according to IEEE standards.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references 6 through 11, completing our literature foundation and highlighting our base paper.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of my presentation. Thank you for listening. I am happy to take</a:t>
            </a:r>
          </a:p>
          <a:p>
            <a:r>
              <a:t>questions on the circuit, the choice of threshold, or the schedule.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201168" y="36576"/>
            <a:ext cx="8741664" cy="274320"/>
          </a:xfrm>
          <a:custGeom>
            <a:avLst/>
            <a:gdLst/>
            <a:ahLst/>
            <a:cxnLst/>
            <a:rect l="l" t="t" r="r" b="b"/>
            <a:pathLst>
              <a:path w="8741664" h="274320">
                <a:moveTo>
                  <a:pt x="0" y="0"/>
                </a:moveTo>
                <a:lnTo>
                  <a:pt x="8741664" y="0"/>
                </a:lnTo>
                <a:lnTo>
                  <a:pt x="8485632" y="274320"/>
                </a:lnTo>
                <a:lnTo>
                  <a:pt x="256032" y="274320"/>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274320" y="36576"/>
            <a:ext cx="8595360" cy="210312"/>
          </a:xfrm>
          <a:custGeom>
            <a:avLst/>
            <a:gdLst/>
            <a:ahLst/>
            <a:cxnLst/>
            <a:rect l="l" t="t" r="r" b="b"/>
            <a:pathLst>
              <a:path w="8595360" h="210312">
                <a:moveTo>
                  <a:pt x="0" y="0"/>
                </a:moveTo>
                <a:lnTo>
                  <a:pt x="8595360" y="0"/>
                </a:lnTo>
                <a:lnTo>
                  <a:pt x="8394192" y="210312"/>
                </a:lnTo>
                <a:lnTo>
                  <a:pt x="201168" y="210312"/>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28600" y="6382512"/>
            <a:ext cx="8778240" cy="292608"/>
          </a:xfrm>
          <a:custGeom>
            <a:avLst/>
            <a:gdLst/>
            <a:ahLst/>
            <a:cxnLst/>
            <a:rect l="l" t="t" r="r" b="b"/>
            <a:pathLst>
              <a:path w="8778240" h="292608">
                <a:moveTo>
                  <a:pt x="274320" y="0"/>
                </a:moveTo>
                <a:lnTo>
                  <a:pt x="8458200" y="0"/>
                </a:lnTo>
                <a:lnTo>
                  <a:pt x="8778240"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365760" y="6437376"/>
            <a:ext cx="8503920" cy="237744"/>
          </a:xfrm>
          <a:custGeom>
            <a:avLst/>
            <a:gdLst/>
            <a:ahLst/>
            <a:cxnLst/>
            <a:rect l="l" t="t" r="r" b="b"/>
            <a:pathLst>
              <a:path w="8503920" h="237744">
                <a:moveTo>
                  <a:pt x="201168" y="0"/>
                </a:moveTo>
                <a:lnTo>
                  <a:pt x="8257032" y="0"/>
                </a:lnTo>
                <a:lnTo>
                  <a:pt x="850392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65760"/>
            <a:ext cx="8229600" cy="566928"/>
          </a:xfrm>
          <a:prstGeom prst="rect">
            <a:avLst/>
          </a:prstGeom>
          <a:noFill/>
        </p:spPr>
        <p:txBody>
          <a:bodyPr wrap="square" lIns="0" rIns="0" tIns="0" bIns="0">
            <a:noAutofit/>
          </a:bodyPr>
          <a:lstStyle/>
          <a:p>
            <a:pPr algn="ctr"/>
            <a:r>
              <a:rPr sz="1800" b="1" i="0" u="none">
                <a:solidFill>
                  <a:srgbClr val="1F3864"/>
                </a:solidFill>
                <a:latin typeface="Times New Roman"/>
              </a:rPr>
              <a:t>Major Project Stage-1 Review-2 Presentation</a:t>
            </a:r>
          </a:p>
          <a:p>
            <a:pPr algn="ctr"/>
            <a:r>
              <a:rPr sz="1800" b="1" i="0" u="none">
                <a:solidFill>
                  <a:srgbClr val="1F3864"/>
                </a:solidFill>
                <a:latin typeface="Times New Roman"/>
              </a:rPr>
              <a:t>on</a:t>
            </a:r>
          </a:p>
        </p:txBody>
      </p:sp>
      <p:sp>
        <p:nvSpPr>
          <p:cNvPr id="7" name="TextBox 6"/>
          <p:cNvSpPr txBox="1"/>
          <p:nvPr/>
        </p:nvSpPr>
        <p:spPr>
          <a:xfrm>
            <a:off x="7589520" y="685800"/>
            <a:ext cx="1097280" cy="256032"/>
          </a:xfrm>
          <a:prstGeom prst="rect">
            <a:avLst/>
          </a:prstGeom>
          <a:noFill/>
        </p:spPr>
        <p:txBody>
          <a:bodyPr wrap="square" lIns="0" rIns="0" tIns="0" bIns="0">
            <a:noAutofit/>
          </a:bodyPr>
          <a:lstStyle/>
          <a:p>
            <a:pPr algn="r"/>
            <a:r>
              <a:rPr sz="1200" b="0" i="0" u="none">
                <a:solidFill>
                  <a:srgbClr val="000000"/>
                </a:solidFill>
                <a:latin typeface="Times New Roman"/>
              </a:rPr>
              <a:t>31-10-2026</a:t>
            </a:r>
          </a:p>
        </p:txBody>
      </p:sp>
      <p:sp>
        <p:nvSpPr>
          <p:cNvPr id="8" name="TextBox 7"/>
          <p:cNvSpPr txBox="1"/>
          <p:nvPr/>
        </p:nvSpPr>
        <p:spPr>
          <a:xfrm>
            <a:off x="365760" y="1005840"/>
            <a:ext cx="8412480" cy="868680"/>
          </a:xfrm>
          <a:prstGeom prst="rect">
            <a:avLst/>
          </a:prstGeom>
          <a:noFill/>
        </p:spPr>
        <p:txBody>
          <a:bodyPr wrap="square" lIns="0" rIns="0" tIns="0" bIns="0">
            <a:noAutofit/>
          </a:bodyPr>
          <a:lstStyle/>
          <a:p>
            <a:pPr algn="ctr"/>
            <a:r>
              <a:rPr sz="2400" b="1" i="0" u="none">
                <a:solidFill>
                  <a:srgbClr val="FF0000"/>
                </a:solidFill>
                <a:latin typeface="Times New Roman"/>
              </a:rPr>
              <a:t>Predictive Thermal Battery Management System</a:t>
            </a:r>
          </a:p>
          <a:p>
            <a:pPr algn="ctr"/>
            <a:r>
              <a:rPr sz="2400" b="1" i="0" u="none">
                <a:solidFill>
                  <a:srgbClr val="FF0000"/>
                </a:solidFill>
                <a:latin typeface="Times New Roman"/>
              </a:rPr>
              <a:t>for Li-ion Battery Packs</a:t>
            </a:r>
          </a:p>
        </p:txBody>
      </p:sp>
      <p:pic>
        <p:nvPicPr>
          <p:cNvPr id="9" name="Picture 8" descr="logo.png"/>
          <p:cNvPicPr>
            <a:picLocks noChangeAspect="1"/>
          </p:cNvPicPr>
          <p:nvPr/>
        </p:nvPicPr>
        <p:blipFill>
          <a:blip r:embed="rId2"/>
          <a:stretch>
            <a:fillRect/>
          </a:stretch>
        </p:blipFill>
        <p:spPr>
          <a:xfrm>
            <a:off x="4121328" y="1993392"/>
            <a:ext cx="901343" cy="1325880"/>
          </a:xfrm>
          <a:prstGeom prst="rect">
            <a:avLst/>
          </a:prstGeom>
        </p:spPr>
      </p:pic>
      <p:sp>
        <p:nvSpPr>
          <p:cNvPr id="10" name="TextBox 9"/>
          <p:cNvSpPr txBox="1"/>
          <p:nvPr/>
        </p:nvSpPr>
        <p:spPr>
          <a:xfrm>
            <a:off x="1417320" y="3611880"/>
            <a:ext cx="3474720" cy="1371600"/>
          </a:xfrm>
          <a:prstGeom prst="rect">
            <a:avLst/>
          </a:prstGeom>
          <a:noFill/>
        </p:spPr>
        <p:txBody>
          <a:bodyPr wrap="square" lIns="0" rIns="0" tIns="0" bIns="0">
            <a:noAutofit/>
          </a:bodyPr>
          <a:lstStyle/>
          <a:p>
            <a:r>
              <a:rPr sz="1800" b="1" i="0" u="none">
                <a:solidFill>
                  <a:srgbClr val="000000"/>
                </a:solidFill>
                <a:latin typeface="Times New Roman"/>
              </a:rPr>
              <a:t>Presented by</a:t>
            </a:r>
          </a:p>
          <a:p>
            <a:pPr>
              <a:spcBef>
                <a:spcPts val="400"/>
              </a:spcBef>
            </a:pPr>
            <a:r>
              <a:rPr sz="1600" b="0" i="0" u="none">
                <a:solidFill>
                  <a:srgbClr val="000000"/>
                </a:solidFill>
                <a:latin typeface="Times New Roman"/>
              </a:rPr>
              <a:t>Ms. Muskan Sulathana</a:t>
            </a:r>
          </a:p>
          <a:p>
            <a:pPr>
              <a:spcBef>
                <a:spcPts val="400"/>
              </a:spcBef>
            </a:pPr>
            <a:r>
              <a:rPr sz="1600" b="0" i="0" u="none">
                <a:solidFill>
                  <a:srgbClr val="000000"/>
                </a:solidFill>
                <a:latin typeface="Times New Roman"/>
              </a:rPr>
              <a:t>Roll No.  :  23WH1A0208</a:t>
            </a:r>
          </a:p>
        </p:txBody>
      </p:sp>
      <p:sp>
        <p:nvSpPr>
          <p:cNvPr id="11" name="TextBox 10"/>
          <p:cNvSpPr txBox="1"/>
          <p:nvPr/>
        </p:nvSpPr>
        <p:spPr>
          <a:xfrm>
            <a:off x="5120640" y="3611880"/>
            <a:ext cx="3291840" cy="1371600"/>
          </a:xfrm>
          <a:prstGeom prst="rect">
            <a:avLst/>
          </a:prstGeom>
          <a:noFill/>
        </p:spPr>
        <p:txBody>
          <a:bodyPr wrap="square" lIns="0" rIns="0" tIns="0" bIns="0">
            <a:noAutofit/>
          </a:bodyPr>
          <a:lstStyle/>
          <a:p>
            <a:pPr algn="ctr"/>
            <a:r>
              <a:rPr sz="1800" b="1" i="0" u="none">
                <a:solidFill>
                  <a:srgbClr val="000000"/>
                </a:solidFill>
                <a:latin typeface="Times New Roman"/>
              </a:rPr>
              <a:t>Guide</a:t>
            </a:r>
          </a:p>
          <a:p>
            <a:pPr algn="ctr">
              <a:spcBef>
                <a:spcPts val="200"/>
              </a:spcBef>
            </a:pPr>
            <a:r>
              <a:rPr sz="1600" b="0" i="0" u="none">
                <a:solidFill>
                  <a:srgbClr val="000000"/>
                </a:solidFill>
                <a:latin typeface="Times New Roman"/>
              </a:rPr>
              <a:t>Dr. M. Rupesh</a:t>
            </a:r>
          </a:p>
          <a:p>
            <a:pPr algn="ctr">
              <a:spcBef>
                <a:spcPts val="200"/>
              </a:spcBef>
            </a:pPr>
            <a:r>
              <a:rPr sz="1600" b="0" i="0" u="none">
                <a:solidFill>
                  <a:srgbClr val="000000"/>
                </a:solidFill>
                <a:latin typeface="Times New Roman"/>
              </a:rPr>
              <a:t>Associate Professor,</a:t>
            </a:r>
          </a:p>
          <a:p>
            <a:pPr algn="ctr">
              <a:spcBef>
                <a:spcPts val="200"/>
              </a:spcBef>
            </a:pPr>
            <a:r>
              <a:rPr sz="1600" b="0" i="0" u="none">
                <a:solidFill>
                  <a:srgbClr val="000000"/>
                </a:solidFill>
                <a:latin typeface="Times New Roman"/>
              </a:rPr>
              <a:t>EEE Department</a:t>
            </a:r>
          </a:p>
        </p:txBody>
      </p:sp>
      <p:sp>
        <p:nvSpPr>
          <p:cNvPr id="12" name="TextBox 11"/>
          <p:cNvSpPr txBox="1"/>
          <p:nvPr/>
        </p:nvSpPr>
        <p:spPr>
          <a:xfrm>
            <a:off x="274320" y="5440680"/>
            <a:ext cx="8595360" cy="822960"/>
          </a:xfrm>
          <a:prstGeom prst="rect">
            <a:avLst/>
          </a:prstGeom>
          <a:noFill/>
        </p:spPr>
        <p:txBody>
          <a:bodyPr wrap="square" lIns="0" rIns="0" tIns="0" bIns="0">
            <a:noAutofit/>
          </a:bodyPr>
          <a:lstStyle/>
          <a:p>
            <a:pPr algn="ctr"/>
            <a:r>
              <a:rPr sz="2200" b="1" i="0" u="none">
                <a:solidFill>
                  <a:srgbClr val="7F007F"/>
                </a:solidFill>
                <a:latin typeface="Times New Roman"/>
              </a:rPr>
              <a:t>Department of Electrical &amp; Electronics Engineering</a:t>
            </a:r>
          </a:p>
          <a:p>
            <a:pPr algn="ctr"/>
            <a:r>
              <a:rPr sz="2200" b="1" i="0" u="none">
                <a:solidFill>
                  <a:srgbClr val="1F3864"/>
                </a:solidFill>
                <a:latin typeface="Times New Roman"/>
              </a:rPr>
              <a:t>BVRIT HYDERABAD College of Engineering for Women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2</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Contents</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283464" indent="-283464" algn="just">
              <a:lnSpc>
                <a:spcPct val="110000"/>
              </a:lnSpc>
              <a:spcAft>
                <a:spcPts val="1300"/>
              </a:spcAft>
              <a:buFont typeface="Arial"/>
              <a:buChar char="•"/>
            </a:pPr>
            <a:r>
              <a:rPr sz="1500" b="0" i="0" u="none">
                <a:solidFill>
                  <a:srgbClr val="000000"/>
                </a:solidFill>
                <a:latin typeface="Times New Roman"/>
              </a:rPr>
              <a:t>1.  Abstract &amp; Problem Statement</a:t>
            </a:r>
          </a:p>
          <a:p>
            <a:pPr marL="283464" indent="-283464" algn="just">
              <a:lnSpc>
                <a:spcPct val="110000"/>
              </a:lnSpc>
              <a:spcAft>
                <a:spcPts val="1300"/>
              </a:spcAft>
              <a:buFont typeface="Arial"/>
              <a:buChar char="•"/>
            </a:pPr>
            <a:r>
              <a:rPr sz="1500" b="0" i="0" u="none">
                <a:solidFill>
                  <a:srgbClr val="000000"/>
                </a:solidFill>
                <a:latin typeface="Times New Roman"/>
              </a:rPr>
              <a:t>2.  Literature Survey &amp; Base Paper Identification</a:t>
            </a:r>
          </a:p>
          <a:p>
            <a:pPr marL="283464" indent="-283464" algn="just">
              <a:lnSpc>
                <a:spcPct val="110000"/>
              </a:lnSpc>
              <a:spcAft>
                <a:spcPts val="1300"/>
              </a:spcAft>
              <a:buFont typeface="Arial"/>
              <a:buChar char="•"/>
            </a:pPr>
            <a:r>
              <a:rPr sz="1500" b="0" i="0" u="none">
                <a:solidFill>
                  <a:srgbClr val="000000"/>
                </a:solidFill>
                <a:latin typeface="Times New Roman"/>
              </a:rPr>
              <a:t>3.  Problem Analysis, Research Gap &amp; Objectives</a:t>
            </a:r>
          </a:p>
          <a:p>
            <a:pPr marL="283464" indent="-283464" algn="just">
              <a:lnSpc>
                <a:spcPct val="110000"/>
              </a:lnSpc>
              <a:spcAft>
                <a:spcPts val="1300"/>
              </a:spcAft>
              <a:buFont typeface="Arial"/>
              <a:buChar char="•"/>
            </a:pPr>
            <a:r>
              <a:rPr sz="1500" b="0" i="0" u="none">
                <a:solidFill>
                  <a:srgbClr val="000000"/>
                </a:solidFill>
                <a:latin typeface="Times New Roman"/>
              </a:rPr>
              <a:t>4.  Methodology &amp; Safety Algorithm Flowchart</a:t>
            </a:r>
          </a:p>
          <a:p>
            <a:pPr marL="283464" indent="-283464" algn="just">
              <a:lnSpc>
                <a:spcPct val="110000"/>
              </a:lnSpc>
              <a:spcAft>
                <a:spcPts val="1300"/>
              </a:spcAft>
              <a:buFont typeface="Arial"/>
              <a:buChar char="•"/>
            </a:pPr>
            <a:r>
              <a:rPr sz="1500" b="0" i="0" u="none">
                <a:solidFill>
                  <a:srgbClr val="000000"/>
                </a:solidFill>
                <a:latin typeface="Times New Roman"/>
              </a:rPr>
              <a:t>5.  System Architecture &amp; Block Diagram</a:t>
            </a:r>
          </a:p>
          <a:p>
            <a:pPr marL="283464" indent="-283464" algn="just">
              <a:lnSpc>
                <a:spcPct val="110000"/>
              </a:lnSpc>
              <a:spcAft>
                <a:spcPts val="1300"/>
              </a:spcAft>
              <a:buFont typeface="Arial"/>
              <a:buChar char="•"/>
            </a:pPr>
            <a:r>
              <a:rPr sz="1500" b="0" i="0" u="none">
                <a:solidFill>
                  <a:srgbClr val="000000"/>
                </a:solidFill>
                <a:latin typeface="Times New Roman"/>
              </a:rPr>
              <a:t>6.  Mathematical Formulation: Two-Node Thermal Model</a:t>
            </a:r>
          </a:p>
          <a:p>
            <a:pPr marL="283464" indent="-283464" algn="just">
              <a:lnSpc>
                <a:spcPct val="110000"/>
              </a:lnSpc>
              <a:spcAft>
                <a:spcPts val="1300"/>
              </a:spcAft>
              <a:buFont typeface="Arial"/>
              <a:buChar char="•"/>
            </a:pPr>
            <a:r>
              <a:rPr sz="1500" b="0" i="0" u="none">
                <a:solidFill>
                  <a:srgbClr val="000000"/>
                </a:solidFill>
                <a:latin typeface="Times New Roman"/>
              </a:rPr>
              <a:t>7.  KiCad Circuit Simulation Model</a:t>
            </a:r>
          </a:p>
          <a:p>
            <a:pPr marL="283464" indent="-283464" algn="just">
              <a:lnSpc>
                <a:spcPct val="110000"/>
              </a:lnSpc>
              <a:spcAft>
                <a:spcPts val="1300"/>
              </a:spcAft>
              <a:buFont typeface="Arial"/>
              <a:buChar char="•"/>
            </a:pPr>
            <a:r>
              <a:rPr sz="1500" b="0" i="0" u="none">
                <a:solidFill>
                  <a:srgbClr val="000000"/>
                </a:solidFill>
                <a:latin typeface="Times New Roman"/>
              </a:rPr>
              <a:t>8.  KiCad Transient Simulation Results</a:t>
            </a:r>
          </a:p>
          <a:p>
            <a:pPr marL="283464" indent="-283464" algn="just">
              <a:lnSpc>
                <a:spcPct val="110000"/>
              </a:lnSpc>
              <a:spcAft>
                <a:spcPts val="1300"/>
              </a:spcAft>
              <a:buFont typeface="Arial"/>
              <a:buChar char="•"/>
            </a:pPr>
            <a:r>
              <a:rPr sz="1500" b="0" i="0" u="none">
                <a:solidFill>
                  <a:srgbClr val="000000"/>
                </a:solidFill>
                <a:latin typeface="Times New Roman"/>
              </a:rPr>
              <a:t>9.  Dynamic Defect Simulation &amp; 5-Min Forecast</a:t>
            </a:r>
          </a:p>
          <a:p>
            <a:pPr marL="283464" indent="-283464" algn="just">
              <a:lnSpc>
                <a:spcPct val="110000"/>
              </a:lnSpc>
              <a:spcAft>
                <a:spcPts val="1300"/>
              </a:spcAft>
              <a:buFont typeface="Arial"/>
              <a:buChar char="•"/>
            </a:pPr>
            <a:r>
              <a:rPr sz="1500" b="0" i="0" u="none">
                <a:solidFill>
                  <a:srgbClr val="000000"/>
                </a:solidFill>
                <a:latin typeface="Times New Roman"/>
              </a:rPr>
              <a:t>10. Performance Comparison: Predictive BMS vs Fixed BMS</a:t>
            </a:r>
          </a:p>
          <a:p>
            <a:pPr marL="283464" indent="-283464" algn="just">
              <a:lnSpc>
                <a:spcPct val="110000"/>
              </a:lnSpc>
              <a:spcAft>
                <a:spcPts val="1300"/>
              </a:spcAft>
              <a:buFont typeface="Arial"/>
              <a:buChar char="•"/>
            </a:pPr>
            <a:r>
              <a:rPr sz="1500" b="0" i="0" u="none">
                <a:solidFill>
                  <a:srgbClr val="000000"/>
                </a:solidFill>
                <a:latin typeface="Times New Roman"/>
              </a:rPr>
              <a:t>11. Hardware Implementation: Board A (Cell Taps)</a:t>
            </a:r>
          </a:p>
          <a:p>
            <a:pPr marL="283464" indent="-283464" algn="just">
              <a:lnSpc>
                <a:spcPct val="110000"/>
              </a:lnSpc>
              <a:spcAft>
                <a:spcPts val="1300"/>
              </a:spcAft>
              <a:buFont typeface="Arial"/>
              <a:buChar char="•"/>
            </a:pPr>
            <a:r>
              <a:rPr sz="1500" b="0" i="0" u="none">
                <a:solidFill>
                  <a:srgbClr val="000000"/>
                </a:solidFill>
                <a:latin typeface="Times New Roman"/>
              </a:rPr>
              <a:t>12. Hardware Implementation: Board B (Supervisor Bring-Up)</a:t>
            </a:r>
          </a:p>
          <a:p>
            <a:pPr marL="283464" indent="-283464" algn="just">
              <a:lnSpc>
                <a:spcPct val="110000"/>
              </a:lnSpc>
              <a:spcAft>
                <a:spcPts val="1300"/>
              </a:spcAft>
              <a:buFont typeface="Arial"/>
              <a:buChar char="•"/>
            </a:pPr>
            <a:r>
              <a:rPr sz="1500" b="0" i="0" u="none">
                <a:solidFill>
                  <a:srgbClr val="000000"/>
                </a:solidFill>
                <a:latin typeface="Times New Roman"/>
              </a:rPr>
              <a:t>13. Live ESP32 Web Dashboard &amp; Telemetry</a:t>
            </a:r>
          </a:p>
          <a:p>
            <a:pPr marL="283464" indent="-283464" algn="just">
              <a:lnSpc>
                <a:spcPct val="110000"/>
              </a:lnSpc>
              <a:spcAft>
                <a:spcPts val="1300"/>
              </a:spcAft>
              <a:buFont typeface="Arial"/>
              <a:buChar char="•"/>
            </a:pPr>
            <a:r>
              <a:rPr sz="1500" b="0" i="0" u="none">
                <a:solidFill>
                  <a:srgbClr val="000000"/>
                </a:solidFill>
                <a:latin typeface="Times New Roman"/>
              </a:rPr>
              <a:t>14. Conclusion, Project Timeline &amp;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3</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Abstract</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283464" indent="-283464" algn="just">
              <a:lnSpc>
                <a:spcPct val="110000"/>
              </a:lnSpc>
              <a:spcAft>
                <a:spcPts val="1300"/>
              </a:spcAft>
              <a:buFont typeface="Arial"/>
              <a:buChar char="•"/>
            </a:pPr>
            <a:r>
              <a:rPr sz="1400" b="0" i="0" u="none">
                <a:solidFill>
                  <a:srgbClr val="000000"/>
                </a:solidFill>
                <a:latin typeface="Times New Roman"/>
              </a:rPr>
              <a:t>Lithium-ion cells offer high energy density but suffer catastrophic thermal runaway under internal defects, dendrite formation, overcharging, and soft micro-shorts.</a:t>
            </a:r>
          </a:p>
          <a:p>
            <a:pPr marL="283464" indent="-283464" algn="just">
              <a:lnSpc>
                <a:spcPct val="110000"/>
              </a:lnSpc>
              <a:spcAft>
                <a:spcPts val="1300"/>
              </a:spcAft>
              <a:buFont typeface="Arial"/>
              <a:buChar char="•"/>
            </a:pPr>
            <a:r>
              <a:rPr sz="1400" b="0" i="0" u="none">
                <a:solidFill>
                  <a:srgbClr val="000000"/>
                </a:solidFill>
                <a:latin typeface="Times New Roman"/>
              </a:rPr>
              <a:t>Conventional BMS boards rely solely on fixed passive thresholds (e.g., 55 °C surface limit). They act reactively after the outer can is already hot, cannot detect uncooled core heat, and are completely blind to faults at zero current.</a:t>
            </a:r>
          </a:p>
          <a:p>
            <a:pPr marL="283464" indent="-283464" algn="just">
              <a:lnSpc>
                <a:spcPct val="110000"/>
              </a:lnSpc>
              <a:spcAft>
                <a:spcPts val="1300"/>
              </a:spcAft>
              <a:buFont typeface="Arial"/>
              <a:buChar char="•"/>
            </a:pPr>
            <a:r>
              <a:rPr sz="1400" b="0" i="0" u="none">
                <a:solidFill>
                  <a:srgbClr val="000000"/>
                </a:solidFill>
                <a:latin typeface="Times New Roman"/>
              </a:rPr>
              <a:t>This project develops an autonomous, predictive, dual-layer battery management system for a 4S1P Panasonic NCR18650GA Li-ion pack:</a:t>
            </a:r>
          </a:p>
          <a:p>
            <a:pPr marL="283464" indent="-283464" algn="just">
              <a:lnSpc>
                <a:spcPct val="110000"/>
              </a:lnSpc>
              <a:spcAft>
                <a:spcPts val="1300"/>
              </a:spcAft>
              <a:buFont typeface="Arial"/>
              <a:buChar char="•"/>
            </a:pPr>
            <a:r>
              <a:rPr sz="1400" b="0" i="0" u="none">
                <a:solidFill>
                  <a:srgbClr val="000000"/>
                </a:solidFill>
                <a:latin typeface="Times New Roman"/>
              </a:rPr>
              <a:t>    • Layer A (Hardware BMS): Autonomous, non-programmable backstop for primary short-circuit and cell over/under-voltage protection.</a:t>
            </a:r>
          </a:p>
          <a:p>
            <a:pPr marL="283464" indent="-283464" algn="just">
              <a:lnSpc>
                <a:spcPct val="110000"/>
              </a:lnSpc>
              <a:spcAft>
                <a:spcPts val="1300"/>
              </a:spcAft>
              <a:buFont typeface="Arial"/>
              <a:buChar char="•"/>
            </a:pPr>
            <a:r>
              <a:rPr sz="1400" b="0" i="0" u="none">
                <a:solidFill>
                  <a:srgbClr val="000000"/>
                </a:solidFill>
                <a:latin typeface="Times New Roman"/>
              </a:rPr>
              <a:t>    • Layer B (Predictive Supervisor): ESP32 MCU running a 2-node lumped-parameter thermal observer and discrete Kalman filter at 5 Hz.</a:t>
            </a:r>
          </a:p>
          <a:p>
            <a:pPr marL="283464" indent="-283464" algn="just">
              <a:lnSpc>
                <a:spcPct val="110000"/>
              </a:lnSpc>
              <a:spcAft>
                <a:spcPts val="1300"/>
              </a:spcAft>
              <a:buFont typeface="Arial"/>
              <a:buChar char="•"/>
            </a:pPr>
            <a:r>
              <a:rPr sz="1400" b="0" i="0" u="none">
                <a:solidFill>
                  <a:srgbClr val="000000"/>
                </a:solidFill>
                <a:latin typeface="Times New Roman"/>
              </a:rPr>
              <a:t>Key Engineering Advantages:</a:t>
            </a:r>
          </a:p>
          <a:p>
            <a:pPr marL="283464" indent="-283464" algn="just">
              <a:lnSpc>
                <a:spcPct val="110000"/>
              </a:lnSpc>
              <a:spcAft>
                <a:spcPts val="1300"/>
              </a:spcAft>
              <a:buFont typeface="Arial"/>
              <a:buChar char="•"/>
            </a:pPr>
            <a:r>
              <a:rPr sz="1400" b="0" i="0" u="none">
                <a:solidFill>
                  <a:srgbClr val="000000"/>
                </a:solidFill>
                <a:latin typeface="Times New Roman"/>
              </a:rPr>
              <a:t>    • Physics-based estimation running directly on a low-cost $4 microcontroller without GPU/cloud dependency.</a:t>
            </a:r>
          </a:p>
          <a:p>
            <a:pPr marL="283464" indent="-283464" algn="just">
              <a:lnSpc>
                <a:spcPct val="110000"/>
              </a:lnSpc>
              <a:spcAft>
                <a:spcPts val="1300"/>
              </a:spcAft>
              <a:buFont typeface="Arial"/>
              <a:buChar char="•"/>
            </a:pPr>
            <a:r>
              <a:rPr sz="1400" b="0" i="0" u="none">
                <a:solidFill>
                  <a:srgbClr val="000000"/>
                </a:solidFill>
                <a:latin typeface="Times New Roman"/>
              </a:rPr>
              <a:t>    • Detects abnormal heat generation (Q_ab in Watts) down to 0.2 W, isolating core faults before external heating.</a:t>
            </a:r>
          </a:p>
          <a:p>
            <a:pPr marL="283464" indent="-283464" algn="just">
              <a:lnSpc>
                <a:spcPct val="110000"/>
              </a:lnSpc>
              <a:spcAft>
                <a:spcPts val="1300"/>
              </a:spcAft>
              <a:buFont typeface="Arial"/>
              <a:buChar char="•"/>
            </a:pPr>
            <a:r>
              <a:rPr sz="1400" b="0" i="0" u="none">
                <a:solidFill>
                  <a:srgbClr val="000000"/>
                </a:solidFill>
                <a:latin typeface="Times New Roman"/>
              </a:rPr>
              <a:t>    • Provides 5-minute thermal forecasting and autonomous relay contactor disconnection, acting 5.0 minutes earlier and keeping cells 27.1 °C cooler.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4</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Problem Statement</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283464" indent="-283464" algn="just">
              <a:lnSpc>
                <a:spcPct val="110000"/>
              </a:lnSpc>
              <a:spcAft>
                <a:spcPts val="1300"/>
              </a:spcAft>
              <a:buFont typeface="Arial"/>
              <a:buChar char="•"/>
            </a:pPr>
            <a:r>
              <a:rPr sz="1400" b="0" i="0" u="none">
                <a:solidFill>
                  <a:srgbClr val="000000"/>
                </a:solidFill>
                <a:latin typeface="Times New Roman"/>
              </a:rPr>
              <a:t>Thermal runaway in Li-ion cells initiates inside the electrode jellyroll via internal defects, dendrites, or local micro-shorts before surface temperature rises.</a:t>
            </a:r>
          </a:p>
          <a:p>
            <a:pPr marL="283464" indent="-283464" algn="just">
              <a:lnSpc>
                <a:spcPct val="110000"/>
              </a:lnSpc>
              <a:spcAft>
                <a:spcPts val="1300"/>
              </a:spcAft>
              <a:buFont typeface="Arial"/>
              <a:buChar char="•"/>
            </a:pPr>
            <a:r>
              <a:rPr sz="1400" b="0" i="0" u="none">
                <a:solidFill>
                  <a:srgbClr val="000000"/>
                </a:solidFill>
                <a:latin typeface="Times New Roman"/>
              </a:rPr>
              <a:t>Critical Vulnerabilities of Existing Battery Management Systems:</a:t>
            </a:r>
          </a:p>
          <a:p>
            <a:pPr marL="283464" indent="-283464" algn="just">
              <a:lnSpc>
                <a:spcPct val="110000"/>
              </a:lnSpc>
              <a:spcAft>
                <a:spcPts val="1300"/>
              </a:spcAft>
              <a:buFont typeface="Arial"/>
              <a:buChar char="•"/>
            </a:pPr>
            <a:r>
              <a:rPr sz="1400" b="0" i="0" u="none">
                <a:solidFill>
                  <a:srgbClr val="000000"/>
                </a:solidFill>
                <a:latin typeface="Times New Roman"/>
              </a:rPr>
              <a:t>    1. Fixed Reactive Thresholds: Intervene only after surface exceeds 55 °C or 60 °C—by then, internal exothermic chain reactions are already self-sustaining.</a:t>
            </a:r>
          </a:p>
          <a:p>
            <a:pPr marL="283464" indent="-283464" algn="just">
              <a:lnSpc>
                <a:spcPct val="110000"/>
              </a:lnSpc>
              <a:spcAft>
                <a:spcPts val="1300"/>
              </a:spcAft>
              <a:buFont typeface="Arial"/>
              <a:buChar char="•"/>
            </a:pPr>
            <a:r>
              <a:rPr sz="1400" b="0" i="0" u="none">
                <a:solidFill>
                  <a:srgbClr val="000000"/>
                </a:solidFill>
                <a:latin typeface="Times New Roman"/>
              </a:rPr>
              <a:t>    2. Core Thermal Blindspot: Surface NTCs lag core temperature by several degrees during dynamic discharge; internal runaway begins at the core.</a:t>
            </a:r>
          </a:p>
          <a:p>
            <a:pPr marL="283464" indent="-283464" algn="just">
              <a:lnSpc>
                <a:spcPct val="110000"/>
              </a:lnSpc>
              <a:spcAft>
                <a:spcPts val="1300"/>
              </a:spcAft>
              <a:buFont typeface="Arial"/>
              <a:buChar char="•"/>
            </a:pPr>
            <a:r>
              <a:rPr sz="1400" b="0" i="0" u="none">
                <a:solidFill>
                  <a:srgbClr val="000000"/>
                </a:solidFill>
                <a:latin typeface="Times New Roman"/>
              </a:rPr>
              <a:t>    3. Zero-Current Rest Blindspot: When pack current is zero (vehicle parked / charging paused), conventional BMS cannot detect internal leakage heating.</a:t>
            </a:r>
          </a:p>
          <a:p>
            <a:pPr marL="283464" indent="-283464" algn="just">
              <a:lnSpc>
                <a:spcPct val="110000"/>
              </a:lnSpc>
              <a:spcAft>
                <a:spcPts val="1300"/>
              </a:spcAft>
              <a:buFont typeface="Arial"/>
              <a:buChar char="•"/>
            </a:pPr>
            <a:r>
              <a:rPr sz="1400" b="0" i="0" u="none">
                <a:solidFill>
                  <a:srgbClr val="000000"/>
                </a:solidFill>
                <a:latin typeface="Times New Roman"/>
              </a:rPr>
              <a:t>    4. Deep-Learning Limitations: Research algorithms (like our base paper) use heavy LSTM networks requiring GPU training, retraining as cells age, and cannot run on cheap microcontrollers.</a:t>
            </a:r>
          </a:p>
          <a:p>
            <a:pPr marL="283464" indent="-283464" algn="just">
              <a:lnSpc>
                <a:spcPct val="110000"/>
              </a:lnSpc>
              <a:spcAft>
                <a:spcPts val="1300"/>
              </a:spcAft>
              <a:buFont typeface="Arial"/>
              <a:buChar char="•"/>
            </a:pPr>
            <a:r>
              <a:rPr sz="1400" b="0" i="0" u="none">
                <a:solidFill>
                  <a:srgbClr val="000000"/>
                </a:solidFill>
                <a:latin typeface="Times New Roman"/>
              </a:rPr>
              <a:t>Need: An on-board, embedded, physics-based observer that isolates abnormal fault heat in Watts and acts preventatively before runaway becomes unstoppable.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5</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Literature Survey</a:t>
            </a:r>
          </a:p>
        </p:txBody>
      </p:sp>
      <p:graphicFrame>
        <p:nvGraphicFramePr>
          <p:cNvPr id="8" name="Table 7"/>
          <p:cNvGraphicFramePr>
            <a:graphicFrameLocks noGrp="1"/>
          </p:cNvGraphicFramePr>
          <p:nvPr/>
        </p:nvGraphicFramePr>
        <p:xfrm>
          <a:off x="320040" y="1261872"/>
          <a:ext cx="8503920" cy="4059935"/>
        </p:xfrm>
        <a:graphic>
          <a:graphicData uri="http://schemas.openxmlformats.org/drawingml/2006/table">
            <a:tbl>
              <a:tblPr firstRow="1">
                <a:tableStyleId>{5C22544A-7EE6-4342-B048-85BDC9FD1C3A}</a:tableStyleId>
              </a:tblPr>
              <a:tblGrid>
                <a:gridCol w="548640"/>
                <a:gridCol w="2377440"/>
                <a:gridCol w="2788920"/>
                <a:gridCol w="2788920"/>
              </a:tblGrid>
              <a:tr h="676655">
                <a:tc>
                  <a:txBody>
                    <a:bodyPr/>
                    <a:lstStyle/>
                    <a:p>
                      <a:pPr algn="ctr"/>
                      <a:r>
                        <a:rPr sz="1400" b="1" i="0" u="none">
                          <a:solidFill>
                            <a:srgbClr val="FFFFFF"/>
                          </a:solidFill>
                          <a:latin typeface="Times New Roman"/>
                        </a:rPr>
                        <a:t>S.No</a:t>
                      </a:r>
                    </a:p>
                  </a:txBody>
                  <a:tcPr anchor="ctr" marL="64008" marR="64008">
                    <a:solidFill>
                      <a:srgbClr val="4F81BD"/>
                    </a:solidFill>
                  </a:tcPr>
                </a:tc>
                <a:tc>
                  <a:txBody>
                    <a:bodyPr/>
                    <a:lstStyle/>
                    <a:p>
                      <a:pPr algn="ctr"/>
                      <a:r>
                        <a:rPr sz="1400" b="1" i="0" u="none">
                          <a:solidFill>
                            <a:srgbClr val="FFFFFF"/>
                          </a:solidFill>
                          <a:latin typeface="Times New Roman"/>
                        </a:rPr>
                        <a:t>Paper Title</a:t>
                      </a:r>
                    </a:p>
                  </a:txBody>
                  <a:tcPr anchor="ctr" marL="64008" marR="64008">
                    <a:solidFill>
                      <a:srgbClr val="4F81BD"/>
                    </a:solidFill>
                  </a:tcPr>
                </a:tc>
                <a:tc>
                  <a:txBody>
                    <a:bodyPr/>
                    <a:lstStyle/>
                    <a:p>
                      <a:pPr algn="ctr"/>
                      <a:r>
                        <a:rPr sz="1400" b="1" i="0" u="none">
                          <a:solidFill>
                            <a:srgbClr val="FFFFFF"/>
                          </a:solidFill>
                          <a:latin typeface="Times New Roman"/>
                        </a:rPr>
                        <a:t>Outcomes</a:t>
                      </a:r>
                    </a:p>
                  </a:txBody>
                  <a:tcPr anchor="ctr" marL="64008" marR="64008">
                    <a:solidFill>
                      <a:srgbClr val="4F81BD"/>
                    </a:solidFill>
                  </a:tcPr>
                </a:tc>
                <a:tc>
                  <a:txBody>
                    <a:bodyPr/>
                    <a:lstStyle/>
                    <a:p>
                      <a:pPr algn="ctr"/>
                      <a:r>
                        <a:rPr sz="1400" b="1" i="0" u="none">
                          <a:solidFill>
                            <a:srgbClr val="FFFFFF"/>
                          </a:solidFill>
                          <a:latin typeface="Times New Roman"/>
                        </a:rPr>
                        <a:t>Limitation / Research Gap</a:t>
                      </a:r>
                    </a:p>
                  </a:txBody>
                  <a:tcPr anchor="ctr" marL="64008" marR="64008">
                    <a:solidFill>
                      <a:srgbClr val="4F81BD"/>
                    </a:solidFill>
                  </a:tcPr>
                </a:tc>
              </a:tr>
              <a:tr h="676655">
                <a:tc>
                  <a:txBody>
                    <a:bodyPr/>
                    <a:lstStyle/>
                    <a:p>
                      <a:pPr algn="ctr"/>
                      <a:r>
                        <a:rPr sz="1300" b="0" i="0" u="none">
                          <a:solidFill>
                            <a:srgbClr val="000000"/>
                          </a:solidFill>
                          <a:latin typeface="Times New Roman"/>
                        </a:rPr>
                        <a:t>[1]</a:t>
                      </a:r>
                    </a:p>
                  </a:txBody>
                  <a:tcPr anchor="ctr" marL="64008" marR="64008" marT="27432" marB="27432">
                    <a:solidFill>
                      <a:srgbClr val="D0D8E8"/>
                    </a:solidFill>
                  </a:tcPr>
                </a:tc>
                <a:tc>
                  <a:txBody>
                    <a:bodyPr/>
                    <a:lstStyle/>
                    <a:p>
                      <a:pPr algn="l"/>
                      <a:r>
                        <a:rPr sz="1300" b="0" i="0" u="none">
                          <a:solidFill>
                            <a:srgbClr val="000000"/>
                          </a:solidFill>
                          <a:latin typeface="Times New Roman"/>
                        </a:rPr>
                        <a:t>Thermal runaway mechanism of lithium ion battery for electric vehicles: A review (Feng et al., 2018)</a:t>
                      </a:r>
                    </a:p>
                  </a:txBody>
                  <a:tcPr anchor="ctr" marL="64008" marR="64008" marT="27432" marB="27432">
                    <a:solidFill>
                      <a:srgbClr val="D0D8E8"/>
                    </a:solidFill>
                  </a:tcPr>
                </a:tc>
                <a:tc>
                  <a:txBody>
                    <a:bodyPr/>
                    <a:lstStyle/>
                    <a:p>
                      <a:pPr algn="l"/>
                      <a:r>
                        <a:rPr sz="1300" b="0" i="0" u="none">
                          <a:solidFill>
                            <a:srgbClr val="000000"/>
                          </a:solidFill>
                          <a:latin typeface="Times New Roman"/>
                        </a:rPr>
                        <a:t>Reviewed how thermal runaway starts and spreads through a chain of heat-producing reactions inside the cell.</a:t>
                      </a:r>
                    </a:p>
                  </a:txBody>
                  <a:tcPr anchor="ctr" marL="64008" marR="64008" marT="27432" marB="27432">
                    <a:solidFill>
                      <a:srgbClr val="D0D8E8"/>
                    </a:solidFill>
                  </a:tcPr>
                </a:tc>
                <a:tc>
                  <a:txBody>
                    <a:bodyPr/>
                    <a:lstStyle/>
                    <a:p>
                      <a:pPr algn="l"/>
                      <a:r>
                        <a:rPr sz="1300" b="0" i="0" u="none">
                          <a:solidFill>
                            <a:srgbClr val="000000"/>
                          </a:solidFill>
                          <a:latin typeface="Times New Roman"/>
                        </a:rPr>
                        <a:t>Explains reaction physics, but does not give an on-board method to detect it early.</a:t>
                      </a:r>
                    </a:p>
                  </a:txBody>
                  <a:tcPr anchor="ctr" marL="64008" marR="64008" marT="27432" marB="27432">
                    <a:solidFill>
                      <a:srgbClr val="D0D8E8"/>
                    </a:solidFill>
                  </a:tcPr>
                </a:tc>
              </a:tr>
              <a:tr h="676655">
                <a:tc>
                  <a:txBody>
                    <a:bodyPr/>
                    <a:lstStyle/>
                    <a:p>
                      <a:pPr algn="ctr"/>
                      <a:r>
                        <a:rPr sz="1300" b="0" i="0" u="none">
                          <a:solidFill>
                            <a:srgbClr val="000000"/>
                          </a:solidFill>
                          <a:latin typeface="Times New Roman"/>
                        </a:rPr>
                        <a:t>[2]</a:t>
                      </a:r>
                    </a:p>
                  </a:txBody>
                  <a:tcPr anchor="ctr" marL="64008" marR="64008" marT="27432" marB="27432">
                    <a:solidFill>
                      <a:srgbClr val="D0D8E8"/>
                    </a:solidFill>
                  </a:tcPr>
                </a:tc>
                <a:tc>
                  <a:txBody>
                    <a:bodyPr/>
                    <a:lstStyle/>
                    <a:p>
                      <a:pPr algn="l"/>
                      <a:r>
                        <a:rPr sz="1300" b="0" i="0" u="none">
                          <a:solidFill>
                            <a:srgbClr val="000000"/>
                          </a:solidFill>
                          <a:latin typeface="Times New Roman"/>
                        </a:rPr>
                        <a:t>Battery management system: An overview of its application in the smart grid and electric vehicles (Rahimi-Eichi et al., 2013)</a:t>
                      </a:r>
                    </a:p>
                  </a:txBody>
                  <a:tcPr anchor="ctr" marL="64008" marR="64008" marT="27432" marB="27432">
                    <a:solidFill>
                      <a:srgbClr val="D0D8E8"/>
                    </a:solidFill>
                  </a:tcPr>
                </a:tc>
                <a:tc>
                  <a:txBody>
                    <a:bodyPr/>
                    <a:lstStyle/>
                    <a:p>
                      <a:pPr algn="l"/>
                      <a:r>
                        <a:rPr sz="1300" b="0" i="0" u="none">
                          <a:solidFill>
                            <a:srgbClr val="000000"/>
                          </a:solidFill>
                          <a:latin typeface="Times New Roman"/>
                        </a:rPr>
                        <a:t>Showed that a BMS needs accurate state estimation and ways to protect the battery from hazardous conditions.</a:t>
                      </a:r>
                    </a:p>
                  </a:txBody>
                  <a:tcPr anchor="ctr" marL="64008" marR="64008" marT="27432" marB="27432">
                    <a:solidFill>
                      <a:srgbClr val="D0D8E8"/>
                    </a:solidFill>
                  </a:tcPr>
                </a:tc>
                <a:tc>
                  <a:txBody>
                    <a:bodyPr/>
                    <a:lstStyle/>
                    <a:p>
                      <a:pPr algn="l"/>
                      <a:r>
                        <a:rPr sz="1300" b="0" i="0" u="none">
                          <a:solidFill>
                            <a:srgbClr val="000000"/>
                          </a:solidFill>
                          <a:latin typeface="Times New Roman"/>
                        </a:rPr>
                        <a:t>Focuses on state-of-charge and state-of-health estimation, not on early thermal warning.</a:t>
                      </a:r>
                    </a:p>
                  </a:txBody>
                  <a:tcPr anchor="ctr" marL="64008" marR="64008" marT="27432" marB="27432">
                    <a:solidFill>
                      <a:srgbClr val="D0D8E8"/>
                    </a:solidFill>
                  </a:tcPr>
                </a:tc>
              </a:tr>
              <a:tr h="676655">
                <a:tc>
                  <a:txBody>
                    <a:bodyPr/>
                    <a:lstStyle/>
                    <a:p>
                      <a:pPr algn="ctr"/>
                      <a:r>
                        <a:rPr sz="1300" b="0" i="0" u="none">
                          <a:solidFill>
                            <a:srgbClr val="000000"/>
                          </a:solidFill>
                          <a:latin typeface="Times New Roman"/>
                        </a:rPr>
                        <a:t>[3]</a:t>
                      </a:r>
                    </a:p>
                  </a:txBody>
                  <a:tcPr anchor="ctr" marL="64008" marR="64008" marT="27432" marB="27432">
                    <a:solidFill>
                      <a:srgbClr val="D0D8E8"/>
                    </a:solidFill>
                  </a:tcPr>
                </a:tc>
                <a:tc>
                  <a:txBody>
                    <a:bodyPr/>
                    <a:lstStyle/>
                    <a:p>
                      <a:pPr algn="l"/>
                      <a:r>
                        <a:rPr sz="1300" b="0" i="0" u="none">
                          <a:solidFill>
                            <a:srgbClr val="000000"/>
                          </a:solidFill>
                          <a:latin typeface="Times New Roman"/>
                        </a:rPr>
                        <a:t>Protection devices in commercial 18650 lithium-ion batteries (Xu et al., 2021)</a:t>
                      </a:r>
                    </a:p>
                  </a:txBody>
                  <a:tcPr anchor="ctr" marL="64008" marR="64008" marT="27432" marB="27432">
                    <a:solidFill>
                      <a:srgbClr val="D0D8E8"/>
                    </a:solidFill>
                  </a:tcPr>
                </a:tc>
                <a:tc>
                  <a:txBody>
                    <a:bodyPr/>
                    <a:lstStyle/>
                    <a:p>
                      <a:pPr algn="l"/>
                      <a:r>
                        <a:rPr sz="1300" b="0" i="0" u="none">
                          <a:solidFill>
                            <a:srgbClr val="000000"/>
                          </a:solidFill>
                          <a:latin typeface="Times New Roman"/>
                        </a:rPr>
                        <a:t>Opened four commercial 18650 cells. Only current interrupt device (CID) and top vent are fitted in every cell.</a:t>
                      </a:r>
                    </a:p>
                  </a:txBody>
                  <a:tcPr anchor="ctr" marL="64008" marR="64008" marT="27432" marB="27432">
                    <a:solidFill>
                      <a:srgbClr val="D0D8E8"/>
                    </a:solidFill>
                  </a:tcPr>
                </a:tc>
                <a:tc>
                  <a:txBody>
                    <a:bodyPr/>
                    <a:lstStyle/>
                    <a:p>
                      <a:pPr algn="l"/>
                      <a:r>
                        <a:rPr sz="1300" b="0" i="0" u="none">
                          <a:solidFill>
                            <a:srgbClr val="000000"/>
                          </a:solidFill>
                          <a:latin typeface="Times New Roman"/>
                        </a:rPr>
                        <a:t>These are destructive last-resort devices. Pack-level monitoring and early warning are not covered.</a:t>
                      </a:r>
                    </a:p>
                  </a:txBody>
                  <a:tcPr anchor="ctr" marL="64008" marR="64008" marT="27432" marB="27432">
                    <a:solidFill>
                      <a:srgbClr val="D0D8E8"/>
                    </a:solidFill>
                  </a:tcPr>
                </a:tc>
              </a:tr>
              <a:tr h="676655">
                <a:tc>
                  <a:txBody>
                    <a:bodyPr/>
                    <a:lstStyle/>
                    <a:p>
                      <a:pPr algn="ctr"/>
                      <a:r>
                        <a:rPr sz="1300" b="0" i="0" u="none">
                          <a:solidFill>
                            <a:srgbClr val="000000"/>
                          </a:solidFill>
                          <a:latin typeface="Times New Roman"/>
                        </a:rPr>
                        <a:t>[4]</a:t>
                      </a:r>
                    </a:p>
                  </a:txBody>
                  <a:tcPr anchor="ctr" marL="64008" marR="64008" marT="27432" marB="27432">
                    <a:solidFill>
                      <a:srgbClr val="D0D8E8"/>
                    </a:solidFill>
                  </a:tcPr>
                </a:tc>
                <a:tc>
                  <a:txBody>
                    <a:bodyPr/>
                    <a:lstStyle/>
                    <a:p>
                      <a:pPr algn="l"/>
                      <a:r>
                        <a:rPr sz="1300" b="0" i="0" u="none">
                          <a:solidFill>
                            <a:srgbClr val="000000"/>
                          </a:solidFill>
                          <a:latin typeface="Times New Roman"/>
                        </a:rPr>
                        <a:t>Advanced fault diagnosis for lithium-ion battery systems: A review of fault mechanisms (Hu et al., 2020)</a:t>
                      </a:r>
                    </a:p>
                  </a:txBody>
                  <a:tcPr anchor="ctr" marL="64008" marR="64008" marT="27432" marB="27432">
                    <a:solidFill>
                      <a:srgbClr val="D0D8E8"/>
                    </a:solidFill>
                  </a:tcPr>
                </a:tc>
                <a:tc>
                  <a:txBody>
                    <a:bodyPr/>
                    <a:lstStyle/>
                    <a:p>
                      <a:pPr algn="l"/>
                      <a:r>
                        <a:rPr sz="1300" b="0" i="0" u="none">
                          <a:solidFill>
                            <a:srgbClr val="000000"/>
                          </a:solidFill>
                          <a:latin typeface="Times New Roman"/>
                        </a:rPr>
                        <a:t>Reviewed internal battery faults, sensor faults and actuator faults, and how each one can be diagnosed.</a:t>
                      </a:r>
                    </a:p>
                  </a:txBody>
                  <a:tcPr anchor="ctr" marL="64008" marR="64008" marT="27432" marB="27432">
                    <a:solidFill>
                      <a:srgbClr val="D0D8E8"/>
                    </a:solidFill>
                  </a:tcPr>
                </a:tc>
                <a:tc>
                  <a:txBody>
                    <a:bodyPr/>
                    <a:lstStyle/>
                    <a:p>
                      <a:pPr algn="l"/>
                      <a:r>
                        <a:rPr sz="1300" b="0" i="0" u="none">
                          <a:solidFill>
                            <a:srgbClr val="000000"/>
                          </a:solidFill>
                          <a:latin typeface="Times New Roman"/>
                        </a:rPr>
                        <a:t>A comprehensive review only. It does not build or test a low-cost embedded diagnostic system.</a:t>
                      </a:r>
                    </a:p>
                  </a:txBody>
                  <a:tcPr anchor="ctr" marL="64008" marR="64008" marT="27432" marB="27432">
                    <a:solidFill>
                      <a:srgbClr val="D0D8E8"/>
                    </a:solidFill>
                  </a:tcPr>
                </a:tc>
              </a:tr>
              <a:tr h="676660">
                <a:tc>
                  <a:txBody>
                    <a:bodyPr/>
                    <a:lstStyle/>
                    <a:p>
                      <a:pPr algn="ctr"/>
                      <a:r>
                        <a:rPr sz="1300" b="0" i="0" u="none">
                          <a:solidFill>
                            <a:srgbClr val="000000"/>
                          </a:solidFill>
                          <a:latin typeface="Times New Roman"/>
                        </a:rPr>
                        <a:t>[5]</a:t>
                      </a:r>
                    </a:p>
                  </a:txBody>
                  <a:tcPr anchor="ctr" marL="64008" marR="64008" marT="27432" marB="27432">
                    <a:solidFill>
                      <a:srgbClr val="D0D8E8"/>
                    </a:solidFill>
                  </a:tcPr>
                </a:tc>
                <a:tc>
                  <a:txBody>
                    <a:bodyPr/>
                    <a:lstStyle/>
                    <a:p>
                      <a:pPr algn="l"/>
                      <a:r>
                        <a:rPr sz="1300" b="0" i="0" u="none">
                          <a:solidFill>
                            <a:srgbClr val="000000"/>
                          </a:solidFill>
                          <a:latin typeface="Times New Roman"/>
                        </a:rPr>
                        <a:t>A critical review of thermal runaway prediction and early-warning methods (Zhang et al., 2023)</a:t>
                      </a:r>
                    </a:p>
                  </a:txBody>
                  <a:tcPr anchor="ctr" marL="64008" marR="64008" marT="27432" marB="27432">
                    <a:solidFill>
                      <a:srgbClr val="D0D8E8"/>
                    </a:solidFill>
                  </a:tcPr>
                </a:tc>
                <a:tc>
                  <a:txBody>
                    <a:bodyPr/>
                    <a:lstStyle/>
                    <a:p>
                      <a:pPr algn="l"/>
                      <a:r>
                        <a:rPr sz="1300" b="0" i="0" u="none">
                          <a:solidFill>
                            <a:srgbClr val="000000"/>
                          </a:solidFill>
                          <a:latin typeface="Times New Roman"/>
                        </a:rPr>
                        <a:t>Grouped early-warning methods into electrochemistry-based, big-data and artificial intelligence methods.</a:t>
                      </a:r>
                    </a:p>
                  </a:txBody>
                  <a:tcPr anchor="ctr" marL="64008" marR="64008" marT="27432" marB="27432">
                    <a:solidFill>
                      <a:srgbClr val="D0D8E8"/>
                    </a:solidFill>
                  </a:tcPr>
                </a:tc>
                <a:tc>
                  <a:txBody>
                    <a:bodyPr/>
                    <a:lstStyle/>
                    <a:p>
                      <a:pPr algn="l"/>
                      <a:r>
                        <a:rPr sz="1300" b="0" i="0" u="none">
                          <a:solidFill>
                            <a:srgbClr val="000000"/>
                          </a:solidFill>
                          <a:latin typeface="Times New Roman"/>
                        </a:rPr>
                        <a:t>Existing methods rely on complex electrochemical models, massive datasets, or heavy AI training.</a:t>
                      </a:r>
                    </a:p>
                  </a:txBody>
                  <a:tcPr anchor="ctr" marL="64008" marR="64008" marT="27432" marB="27432">
                    <a:solidFill>
                      <a:srgbClr val="D0D8E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6</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Literature Survey (contd.)</a:t>
            </a:r>
          </a:p>
        </p:txBody>
      </p:sp>
      <p:graphicFrame>
        <p:nvGraphicFramePr>
          <p:cNvPr id="8" name="Table 7"/>
          <p:cNvGraphicFramePr>
            <a:graphicFrameLocks noGrp="1"/>
          </p:cNvGraphicFramePr>
          <p:nvPr/>
        </p:nvGraphicFramePr>
        <p:xfrm>
          <a:off x="320040" y="1261872"/>
          <a:ext cx="8503920" cy="4059935"/>
        </p:xfrm>
        <a:graphic>
          <a:graphicData uri="http://schemas.openxmlformats.org/drawingml/2006/table">
            <a:tbl>
              <a:tblPr firstRow="1">
                <a:tableStyleId>{5C22544A-7EE6-4342-B048-85BDC9FD1C3A}</a:tableStyleId>
              </a:tblPr>
              <a:tblGrid>
                <a:gridCol w="548640"/>
                <a:gridCol w="2377440"/>
                <a:gridCol w="2788920"/>
                <a:gridCol w="2788920"/>
              </a:tblGrid>
              <a:tr h="676655">
                <a:tc>
                  <a:txBody>
                    <a:bodyPr/>
                    <a:lstStyle/>
                    <a:p>
                      <a:pPr algn="ctr"/>
                      <a:r>
                        <a:rPr sz="1400" b="1" i="0" u="none">
                          <a:solidFill>
                            <a:srgbClr val="FFFFFF"/>
                          </a:solidFill>
                          <a:latin typeface="Times New Roman"/>
                        </a:rPr>
                        <a:t>S.No</a:t>
                      </a:r>
                    </a:p>
                  </a:txBody>
                  <a:tcPr anchor="ctr" marL="64008" marR="64008">
                    <a:solidFill>
                      <a:srgbClr val="4F81BD"/>
                    </a:solidFill>
                  </a:tcPr>
                </a:tc>
                <a:tc>
                  <a:txBody>
                    <a:bodyPr/>
                    <a:lstStyle/>
                    <a:p>
                      <a:pPr algn="ctr"/>
                      <a:r>
                        <a:rPr sz="1400" b="1" i="0" u="none">
                          <a:solidFill>
                            <a:srgbClr val="FFFFFF"/>
                          </a:solidFill>
                          <a:latin typeface="Times New Roman"/>
                        </a:rPr>
                        <a:t>Paper Title</a:t>
                      </a:r>
                    </a:p>
                  </a:txBody>
                  <a:tcPr anchor="ctr" marL="64008" marR="64008">
                    <a:solidFill>
                      <a:srgbClr val="4F81BD"/>
                    </a:solidFill>
                  </a:tcPr>
                </a:tc>
                <a:tc>
                  <a:txBody>
                    <a:bodyPr/>
                    <a:lstStyle/>
                    <a:p>
                      <a:pPr algn="ctr"/>
                      <a:r>
                        <a:rPr sz="1400" b="1" i="0" u="none">
                          <a:solidFill>
                            <a:srgbClr val="FFFFFF"/>
                          </a:solidFill>
                          <a:latin typeface="Times New Roman"/>
                        </a:rPr>
                        <a:t>Outcomes</a:t>
                      </a:r>
                    </a:p>
                  </a:txBody>
                  <a:tcPr anchor="ctr" marL="64008" marR="64008">
                    <a:solidFill>
                      <a:srgbClr val="4F81BD"/>
                    </a:solidFill>
                  </a:tcPr>
                </a:tc>
                <a:tc>
                  <a:txBody>
                    <a:bodyPr/>
                    <a:lstStyle/>
                    <a:p>
                      <a:pPr algn="ctr"/>
                      <a:r>
                        <a:rPr sz="1400" b="1" i="0" u="none">
                          <a:solidFill>
                            <a:srgbClr val="FFFFFF"/>
                          </a:solidFill>
                          <a:latin typeface="Times New Roman"/>
                        </a:rPr>
                        <a:t>Limitation / Research Gap</a:t>
                      </a:r>
                    </a:p>
                  </a:txBody>
                  <a:tcPr anchor="ctr" marL="64008" marR="64008">
                    <a:solidFill>
                      <a:srgbClr val="4F81BD"/>
                    </a:solidFill>
                  </a:tcPr>
                </a:tc>
              </a:tr>
              <a:tr h="676655">
                <a:tc>
                  <a:txBody>
                    <a:bodyPr/>
                    <a:lstStyle/>
                    <a:p>
                      <a:pPr algn="ctr"/>
                      <a:r>
                        <a:rPr sz="1300" b="0" i="0" u="none">
                          <a:solidFill>
                            <a:srgbClr val="000000"/>
                          </a:solidFill>
                          <a:latin typeface="Times New Roman"/>
                        </a:rPr>
                        <a:t>[6]</a:t>
                      </a:r>
                    </a:p>
                  </a:txBody>
                  <a:tcPr anchor="ctr" marL="64008" marR="64008" marT="27432" marB="27432">
                    <a:solidFill>
                      <a:srgbClr val="D0D8E8"/>
                    </a:solidFill>
                  </a:tcPr>
                </a:tc>
                <a:tc>
                  <a:txBody>
                    <a:bodyPr/>
                    <a:lstStyle/>
                    <a:p>
                      <a:pPr algn="l"/>
                      <a:r>
                        <a:rPr sz="1300" b="0" i="0" u="none">
                          <a:solidFill>
                            <a:srgbClr val="000000"/>
                          </a:solidFill>
                          <a:latin typeface="Times New Roman"/>
                        </a:rPr>
                        <a:t>An online data-driven fault diagnosis and thermal runaway early warning for electric vehicle batteries (Sun et al., 2022)</a:t>
                      </a:r>
                    </a:p>
                  </a:txBody>
                  <a:tcPr anchor="ctr" marL="64008" marR="64008" marT="27432" marB="27432">
                    <a:solidFill>
                      <a:srgbClr val="D0D8E8"/>
                    </a:solidFill>
                  </a:tcPr>
                </a:tc>
                <a:tc>
                  <a:txBody>
                    <a:bodyPr/>
                    <a:lstStyle/>
                    <a:p>
                      <a:pPr algn="l"/>
                      <a:r>
                        <a:rPr sz="1300" b="0" i="0" u="none">
                          <a:solidFill>
                            <a:srgbClr val="000000"/>
                          </a:solidFill>
                          <a:latin typeface="Times New Roman"/>
                        </a:rPr>
                        <a:t>Found the cell heading for thermal runaway before it happened, using voltage and temperature data from real vehicles.</a:t>
                      </a:r>
                    </a:p>
                  </a:txBody>
                  <a:tcPr anchor="ctr" marL="64008" marR="64008" marT="27432" marB="27432">
                    <a:solidFill>
                      <a:srgbClr val="D0D8E8"/>
                    </a:solidFill>
                  </a:tcPr>
                </a:tc>
                <a:tc>
                  <a:txBody>
                    <a:bodyPr/>
                    <a:lstStyle/>
                    <a:p>
                      <a:pPr algn="l"/>
                      <a:r>
                        <a:rPr sz="1300" b="0" i="0" u="none">
                          <a:solidFill>
                            <a:srgbClr val="000000"/>
                          </a:solidFill>
                          <a:latin typeface="Times New Roman"/>
                        </a:rPr>
                        <a:t>Compares many cells statistically in large EV packs; unsuitable for standalone small packs.</a:t>
                      </a:r>
                    </a:p>
                  </a:txBody>
                  <a:tcPr anchor="ctr" marL="64008" marR="64008" marT="27432" marB="27432">
                    <a:solidFill>
                      <a:srgbClr val="D0D8E8"/>
                    </a:solidFill>
                  </a:tcPr>
                </a:tc>
              </a:tr>
              <a:tr h="676655">
                <a:tc>
                  <a:txBody>
                    <a:bodyPr/>
                    <a:lstStyle/>
                    <a:p>
                      <a:pPr algn="ctr"/>
                      <a:r>
                        <a:rPr sz="1300" b="0" i="0" u="none">
                          <a:solidFill>
                            <a:srgbClr val="000000"/>
                          </a:solidFill>
                          <a:latin typeface="Times New Roman"/>
                        </a:rPr>
                        <a:t>[7]*</a:t>
                      </a:r>
                    </a:p>
                  </a:txBody>
                  <a:tcPr anchor="ctr" marL="64008" marR="64008" marT="27432" marB="27432">
                    <a:solidFill>
                      <a:srgbClr val="D0D8E8"/>
                    </a:solidFill>
                  </a:tcPr>
                </a:tc>
                <a:tc>
                  <a:txBody>
                    <a:bodyPr/>
                    <a:lstStyle/>
                    <a:p>
                      <a:pPr algn="l"/>
                      <a:r>
                        <a:rPr sz="1300" b="0" i="0" u="none">
                          <a:solidFill>
                            <a:srgbClr val="000000"/>
                          </a:solidFill>
                          <a:latin typeface="Times New Roman"/>
                        </a:rPr>
                        <a:t>BASE PAPER: A neural network based method for thermal fault detection in lithium-ion batteries (Ojo et al., IEEE TIE, 2021)</a:t>
                      </a:r>
                    </a:p>
                  </a:txBody>
                  <a:tcPr anchor="ctr" marL="64008" marR="64008" marT="27432" marB="27432">
                    <a:solidFill>
                      <a:srgbClr val="D0D8E8"/>
                    </a:solidFill>
                  </a:tcPr>
                </a:tc>
                <a:tc>
                  <a:txBody>
                    <a:bodyPr/>
                    <a:lstStyle/>
                    <a:p>
                      <a:pPr algn="l"/>
                      <a:r>
                        <a:rPr sz="1300" b="0" i="0" u="none">
                          <a:solidFill>
                            <a:srgbClr val="000000"/>
                          </a:solidFill>
                          <a:latin typeface="Times New Roman"/>
                        </a:rPr>
                        <a:t>LSTM neural network predicts surface temperature 4.5 s ahead; flags gaps &gt; 0.69 °C as thermal runaway precursor.</a:t>
                      </a:r>
                    </a:p>
                  </a:txBody>
                  <a:tcPr anchor="ctr" marL="64008" marR="64008" marT="27432" marB="27432">
                    <a:solidFill>
                      <a:srgbClr val="D0D8E8"/>
                    </a:solidFill>
                  </a:tcPr>
                </a:tc>
                <a:tc>
                  <a:txBody>
                    <a:bodyPr/>
                    <a:lstStyle/>
                    <a:p>
                      <a:pPr algn="l"/>
                      <a:r>
                        <a:rPr sz="1300" b="0" i="0" u="none">
                          <a:solidFill>
                            <a:srgbClr val="000000"/>
                          </a:solidFill>
                          <a:latin typeface="Times New Roman"/>
                        </a:rPr>
                        <a:t>Requires 65 min GPU training, retraining as cell ages; blind to slow faults (&lt; 9.2 °C/min); 0.5% false alarms (~36/hr).</a:t>
                      </a:r>
                    </a:p>
                  </a:txBody>
                  <a:tcPr anchor="ctr" marL="64008" marR="64008" marT="27432" marB="27432">
                    <a:solidFill>
                      <a:srgbClr val="D0D8E8"/>
                    </a:solidFill>
                  </a:tcPr>
                </a:tc>
              </a:tr>
              <a:tr h="676655">
                <a:tc>
                  <a:txBody>
                    <a:bodyPr/>
                    <a:lstStyle/>
                    <a:p>
                      <a:pPr algn="ctr"/>
                      <a:r>
                        <a:rPr sz="1300" b="0" i="0" u="none">
                          <a:solidFill>
                            <a:srgbClr val="000000"/>
                          </a:solidFill>
                          <a:latin typeface="Times New Roman"/>
                        </a:rPr>
                        <a:t>[8]</a:t>
                      </a:r>
                    </a:p>
                  </a:txBody>
                  <a:tcPr anchor="ctr" marL="64008" marR="64008" marT="27432" marB="27432">
                    <a:solidFill>
                      <a:srgbClr val="D0D8E8"/>
                    </a:solidFill>
                  </a:tcPr>
                </a:tc>
                <a:tc>
                  <a:txBody>
                    <a:bodyPr/>
                    <a:lstStyle/>
                    <a:p>
                      <a:pPr algn="l"/>
                      <a:r>
                        <a:rPr sz="1300" b="0" i="0" u="none">
                          <a:solidFill>
                            <a:srgbClr val="000000"/>
                          </a:solidFill>
                          <a:latin typeface="Times New Roman"/>
                        </a:rPr>
                        <a:t>A combined data-driven and model-based algorithm for accurate battery thermal runaway warning (Chen et al., 2024)</a:t>
                      </a:r>
                    </a:p>
                  </a:txBody>
                  <a:tcPr anchor="ctr" marL="64008" marR="64008" marT="27432" marB="27432">
                    <a:solidFill>
                      <a:srgbClr val="D0D8E8"/>
                    </a:solidFill>
                  </a:tcPr>
                </a:tc>
                <a:tc>
                  <a:txBody>
                    <a:bodyPr/>
                    <a:lstStyle/>
                    <a:p>
                      <a:pPr algn="l"/>
                      <a:r>
                        <a:rPr sz="1300" b="0" i="0" u="none">
                          <a:solidFill>
                            <a:srgbClr val="000000"/>
                          </a:solidFill>
                          <a:latin typeface="Times New Roman"/>
                        </a:rPr>
                        <a:t>Combined K-Means clustering with the Bernardi heat equation and warned 25 minutes before thermal runaway.</a:t>
                      </a:r>
                    </a:p>
                  </a:txBody>
                  <a:tcPr anchor="ctr" marL="64008" marR="64008" marT="27432" marB="27432">
                    <a:solidFill>
                      <a:srgbClr val="D0D8E8"/>
                    </a:solidFill>
                  </a:tcPr>
                </a:tc>
                <a:tc>
                  <a:txBody>
                    <a:bodyPr/>
                    <a:lstStyle/>
                    <a:p>
                      <a:pPr algn="l"/>
                      <a:r>
                        <a:rPr sz="1300" b="0" i="0" u="none">
                          <a:solidFill>
                            <a:srgbClr val="000000"/>
                          </a:solidFill>
                          <a:latin typeface="Times New Roman"/>
                        </a:rPr>
                        <a:t>Its 1 °C/s limit confirms runaway after initiation; it is not an early preventative warning.</a:t>
                      </a:r>
                    </a:p>
                  </a:txBody>
                  <a:tcPr anchor="ctr" marL="64008" marR="64008" marT="27432" marB="27432">
                    <a:solidFill>
                      <a:srgbClr val="D0D8E8"/>
                    </a:solidFill>
                  </a:tcPr>
                </a:tc>
              </a:tr>
              <a:tr h="676655">
                <a:tc>
                  <a:txBody>
                    <a:bodyPr/>
                    <a:lstStyle/>
                    <a:p>
                      <a:pPr algn="ctr"/>
                      <a:r>
                        <a:rPr sz="1300" b="0" i="0" u="none">
                          <a:solidFill>
                            <a:srgbClr val="000000"/>
                          </a:solidFill>
                          <a:latin typeface="Times New Roman"/>
                        </a:rPr>
                        <a:t>[9]</a:t>
                      </a:r>
                    </a:p>
                  </a:txBody>
                  <a:tcPr anchor="ctr" marL="64008" marR="64008" marT="27432" marB="27432">
                    <a:solidFill>
                      <a:srgbClr val="D0D8E8"/>
                    </a:solidFill>
                  </a:tcPr>
                </a:tc>
                <a:tc>
                  <a:txBody>
                    <a:bodyPr/>
                    <a:lstStyle/>
                    <a:p>
                      <a:pPr algn="l"/>
                      <a:r>
                        <a:rPr sz="1300" b="0" i="0" u="none">
                          <a:solidFill>
                            <a:srgbClr val="000000"/>
                          </a:solidFill>
                          <a:latin typeface="Times New Roman"/>
                        </a:rPr>
                        <a:t>Online parameterization of lumped thermal dynamics in cylindrical lithium ion batteries (Lin et al., 2013)</a:t>
                      </a:r>
                    </a:p>
                  </a:txBody>
                  <a:tcPr anchor="ctr" marL="64008" marR="64008" marT="27432" marB="27432">
                    <a:solidFill>
                      <a:srgbClr val="D0D8E8"/>
                    </a:solidFill>
                  </a:tcPr>
                </a:tc>
                <a:tc>
                  <a:txBody>
                    <a:bodyPr/>
                    <a:lstStyle/>
                    <a:p>
                      <a:pPr algn="l"/>
                      <a:r>
                        <a:rPr sz="1300" b="0" i="0" u="none">
                          <a:solidFill>
                            <a:srgbClr val="000000"/>
                          </a:solidFill>
                          <a:latin typeface="Times New Roman"/>
                        </a:rPr>
                        <a:t>Showed that only surface temperature can be measured while core is hotter, and estimated core temperature.</a:t>
                      </a:r>
                    </a:p>
                  </a:txBody>
                  <a:tcPr anchor="ctr" marL="64008" marR="64008" marT="27432" marB="27432">
                    <a:solidFill>
                      <a:srgbClr val="D0D8E8"/>
                    </a:solidFill>
                  </a:tcPr>
                </a:tc>
                <a:tc>
                  <a:txBody>
                    <a:bodyPr/>
                    <a:lstStyle/>
                    <a:p>
                      <a:pPr algn="l"/>
                      <a:r>
                        <a:rPr sz="1300" b="0" i="0" u="none">
                          <a:solidFill>
                            <a:srgbClr val="000000"/>
                          </a:solidFill>
                          <a:latin typeface="Times New Roman"/>
                        </a:rPr>
                        <a:t>Needs complex online parameter identification, and was tested on one 26650 cell, not a 4S pack.</a:t>
                      </a:r>
                    </a:p>
                  </a:txBody>
                  <a:tcPr anchor="ctr" marL="64008" marR="64008" marT="27432" marB="27432">
                    <a:solidFill>
                      <a:srgbClr val="D0D8E8"/>
                    </a:solidFill>
                  </a:tcPr>
                </a:tc>
              </a:tr>
              <a:tr h="676660">
                <a:tc>
                  <a:txBody>
                    <a:bodyPr/>
                    <a:lstStyle/>
                    <a:p>
                      <a:pPr algn="ctr"/>
                      <a:r>
                        <a:rPr sz="1300" b="0" i="0" u="none">
                          <a:solidFill>
                            <a:srgbClr val="000000"/>
                          </a:solidFill>
                          <a:latin typeface="Times New Roman"/>
                        </a:rPr>
                        <a:t>[10]</a:t>
                      </a:r>
                    </a:p>
                  </a:txBody>
                  <a:tcPr anchor="ctr" marL="64008" marR="64008" marT="27432" marB="27432">
                    <a:solidFill>
                      <a:srgbClr val="D0D8E8"/>
                    </a:solidFill>
                  </a:tcPr>
                </a:tc>
                <a:tc>
                  <a:txBody>
                    <a:bodyPr/>
                    <a:lstStyle/>
                    <a:p>
                      <a:pPr algn="l"/>
                      <a:r>
                        <a:rPr sz="1300" b="0" i="0" u="none">
                          <a:solidFill>
                            <a:srgbClr val="000000"/>
                          </a:solidFill>
                          <a:latin typeface="Times New Roman"/>
                        </a:rPr>
                        <a:t>Cloud-based battery condition monitoring platform for large-scale BESS using IoT (Adhikaree et al., 2017)</a:t>
                      </a:r>
                    </a:p>
                  </a:txBody>
                  <a:tcPr anchor="ctr" marL="64008" marR="64008" marT="27432" marB="27432">
                    <a:solidFill>
                      <a:srgbClr val="D0D8E8"/>
                    </a:solidFill>
                  </a:tcPr>
                </a:tc>
                <a:tc>
                  <a:txBody>
                    <a:bodyPr/>
                    <a:lstStyle/>
                    <a:p>
                      <a:pPr algn="l"/>
                      <a:r>
                        <a:rPr sz="1300" b="0" i="0" u="none">
                          <a:solidFill>
                            <a:srgbClr val="000000"/>
                          </a:solidFill>
                          <a:latin typeface="Times New Roman"/>
                        </a:rPr>
                        <a:t>Sent battery module data over IoT links to Google Cloud, where cell states were evaluated.</a:t>
                      </a:r>
                    </a:p>
                  </a:txBody>
                  <a:tcPr anchor="ctr" marL="64008" marR="64008" marT="27432" marB="27432">
                    <a:solidFill>
                      <a:srgbClr val="D0D8E8"/>
                    </a:solidFill>
                  </a:tcPr>
                </a:tc>
                <a:tc>
                  <a:txBody>
                    <a:bodyPr/>
                    <a:lstStyle/>
                    <a:p>
                      <a:pPr algn="l"/>
                      <a:r>
                        <a:rPr sz="1300" b="0" i="0" u="none">
                          <a:solidFill>
                            <a:srgbClr val="000000"/>
                          </a:solidFill>
                          <a:latin typeface="Times New Roman"/>
                        </a:rPr>
                        <a:t>Depends strictly on the cloud and network. Protection must keep working even when Wi-Fi is lost.</a:t>
                      </a:r>
                    </a:p>
                  </a:txBody>
                  <a:tcPr anchor="ctr" marL="64008" marR="64008" marT="27432" marB="27432">
                    <a:solidFill>
                      <a:srgbClr val="D0D8E8"/>
                    </a:solidFill>
                  </a:tcPr>
                </a:tc>
              </a:tr>
            </a:tbl>
          </a:graphicData>
        </a:graphic>
      </p:graphicFrame>
      <p:sp>
        <p:nvSpPr>
          <p:cNvPr id="9" name="TextBox 8"/>
          <p:cNvSpPr txBox="1"/>
          <p:nvPr/>
        </p:nvSpPr>
        <p:spPr>
          <a:xfrm>
            <a:off x="5714999" y="5705856"/>
            <a:ext cx="2926080" cy="512064"/>
          </a:xfrm>
          <a:prstGeom prst="rect">
            <a:avLst/>
          </a:prstGeom>
          <a:noFill/>
        </p:spPr>
        <p:txBody>
          <a:bodyPr wrap="square" lIns="0" rIns="0" tIns="0" bIns="0">
            <a:noAutofit/>
          </a:bodyPr>
          <a:lstStyle/>
          <a:p>
            <a:pPr algn="r"/>
            <a:r>
              <a:rPr sz="1500" b="0" i="0" u="none">
                <a:solidFill>
                  <a:srgbClr val="000000"/>
                </a:solidFill>
                <a:latin typeface="Times New Roman"/>
              </a:rPr>
              <a:t>* Designated Base Paper of this project (IEEE Trans. Ind. Electron., 2021)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7</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Problem Analysis</a:t>
            </a:r>
          </a:p>
        </p:txBody>
      </p:sp>
      <p:sp>
        <p:nvSpPr>
          <p:cNvPr id="8" name="TextBox 7"/>
          <p:cNvSpPr txBox="1"/>
          <p:nvPr/>
        </p:nvSpPr>
        <p:spPr>
          <a:xfrm>
            <a:off x="566928" y="1170431"/>
            <a:ext cx="8074152" cy="2057400"/>
          </a:xfrm>
          <a:prstGeom prst="rect">
            <a:avLst/>
          </a:prstGeom>
          <a:noFill/>
        </p:spPr>
        <p:txBody>
          <a:bodyPr wrap="square" lIns="0" rIns="0" tIns="0" bIns="0">
            <a:noAutofit/>
          </a:bodyPr>
          <a:lstStyle/>
          <a:p>
            <a:pPr marL="283464" indent="-283464" algn="just">
              <a:lnSpc>
                <a:spcPct val="110000"/>
              </a:lnSpc>
              <a:spcAft>
                <a:spcPts val="1000"/>
              </a:spcAft>
              <a:buFont typeface="Arial"/>
              <a:buChar char="•"/>
            </a:pPr>
            <a:r>
              <a:rPr sz="1500" b="0" i="0" u="none">
                <a:solidFill>
                  <a:srgbClr val="000000"/>
                </a:solidFill>
                <a:latin typeface="Times New Roman"/>
              </a:rPr>
              <a:t>Internal heat generation (I²R + Q_ab) drives thermal runaway inside the electrode assembly.</a:t>
            </a:r>
          </a:p>
          <a:p>
            <a:pPr marL="283464" indent="-283464" algn="just">
              <a:lnSpc>
                <a:spcPct val="110000"/>
              </a:lnSpc>
              <a:spcAft>
                <a:spcPts val="1000"/>
              </a:spcAft>
              <a:buFont typeface="Arial"/>
              <a:buChar char="•"/>
            </a:pPr>
            <a:r>
              <a:rPr sz="1500" b="0" i="0" u="none">
                <a:solidFill>
                  <a:srgbClr val="000000"/>
                </a:solidFill>
                <a:latin typeface="Times New Roman"/>
              </a:rPr>
              <a:t>Surface temperature lags core temperature by several minutes due to internal thermal resistance (R_core = 2.0 °C/W).</a:t>
            </a:r>
          </a:p>
          <a:p>
            <a:pPr marL="283464" indent="-283464" algn="just">
              <a:lnSpc>
                <a:spcPct val="110000"/>
              </a:lnSpc>
              <a:spcAft>
                <a:spcPts val="1000"/>
              </a:spcAft>
              <a:buFont typeface="Arial"/>
              <a:buChar char="•"/>
            </a:pPr>
            <a:r>
              <a:rPr sz="1500" b="0" i="0" u="none">
                <a:solidFill>
                  <a:srgbClr val="000000"/>
                </a:solidFill>
                <a:latin typeface="Times New Roman"/>
              </a:rPr>
              <a:t>Fixed threshold protection (55 °C) provides zero early-warning time; once exothermic reactions start, disconnecting current cannot quench runaway.</a:t>
            </a:r>
          </a:p>
          <a:p>
            <a:pPr marL="283464" indent="-283464" algn="just">
              <a:lnSpc>
                <a:spcPct val="110000"/>
              </a:lnSpc>
              <a:spcAft>
                <a:spcPts val="1000"/>
              </a:spcAft>
              <a:buFont typeface="Arial"/>
              <a:buChar char="•"/>
            </a:pPr>
            <a:r>
              <a:rPr sz="1500" b="0" i="0" u="none">
                <a:solidFill>
                  <a:srgbClr val="000000"/>
                </a:solidFill>
                <a:latin typeface="Times New Roman"/>
              </a:rPr>
              <a:t>Incipient internal micro-shorts generate very small heat powers (0.03 W to 0.29 W) that take tens of minutes to warm the cell, easily missed by short-window detectors.</a:t>
            </a:r>
          </a:p>
        </p:txBody>
      </p:sp>
      <p:sp>
        <p:nvSpPr>
          <p:cNvPr id="9" name="TextBox 8"/>
          <p:cNvSpPr txBox="1"/>
          <p:nvPr/>
        </p:nvSpPr>
        <p:spPr>
          <a:xfrm>
            <a:off x="457200" y="3273551"/>
            <a:ext cx="8183879" cy="640080"/>
          </a:xfrm>
          <a:prstGeom prst="rect">
            <a:avLst/>
          </a:prstGeom>
          <a:noFill/>
        </p:spPr>
        <p:txBody>
          <a:bodyPr wrap="square" lIns="0" rIns="0" tIns="0" bIns="0">
            <a:noAutofit/>
          </a:bodyPr>
          <a:lstStyle/>
          <a:p>
            <a:r>
              <a:rPr sz="2800" b="1" i="0" u="none">
                <a:solidFill>
                  <a:srgbClr val="000000"/>
                </a:solidFill>
                <a:latin typeface="Times New Roman"/>
              </a:rPr>
              <a:t>Research Gap</a:t>
            </a:r>
          </a:p>
        </p:txBody>
      </p:sp>
      <p:sp>
        <p:nvSpPr>
          <p:cNvPr id="10" name="TextBox 9"/>
          <p:cNvSpPr txBox="1"/>
          <p:nvPr/>
        </p:nvSpPr>
        <p:spPr>
          <a:xfrm>
            <a:off x="566928" y="3968496"/>
            <a:ext cx="8074152" cy="2249424"/>
          </a:xfrm>
          <a:prstGeom prst="rect">
            <a:avLst/>
          </a:prstGeom>
          <a:noFill/>
        </p:spPr>
        <p:txBody>
          <a:bodyPr wrap="square" lIns="0" rIns="0" tIns="0" bIns="0">
            <a:noAutofit/>
          </a:bodyPr>
          <a:lstStyle/>
          <a:p>
            <a:pPr marL="283464" indent="-283464" algn="just">
              <a:lnSpc>
                <a:spcPct val="110000"/>
              </a:lnSpc>
              <a:spcAft>
                <a:spcPts val="1000"/>
              </a:spcAft>
              <a:buFont typeface="Arial"/>
              <a:buChar char="•"/>
            </a:pPr>
            <a:r>
              <a:rPr sz="1500" b="0" i="0" u="none">
                <a:solidFill>
                  <a:srgbClr val="000000"/>
                </a:solidFill>
                <a:latin typeface="Times New Roman"/>
              </a:rPr>
              <a:t>Need for a lightweight, physics-based thermal observer executable on a low-cost microcontroller (ESP32) at 5 Hz without GPU/cloud dependency.</a:t>
            </a:r>
          </a:p>
          <a:p>
            <a:pPr marL="283464" indent="-283464" algn="just">
              <a:lnSpc>
                <a:spcPct val="110000"/>
              </a:lnSpc>
              <a:spcAft>
                <a:spcPts val="1000"/>
              </a:spcAft>
              <a:buFont typeface="Arial"/>
              <a:buChar char="•"/>
            </a:pPr>
            <a:r>
              <a:rPr sz="1500" b="0" i="0" u="none">
                <a:solidFill>
                  <a:srgbClr val="000000"/>
                </a:solidFill>
                <a:latin typeface="Times New Roman"/>
              </a:rPr>
              <a:t>Need for abnormal heat (Q_ab) isolation in physical Watts to detect micro-faults even when the pack is at zero-current rest.</a:t>
            </a:r>
          </a:p>
          <a:p>
            <a:pPr marL="283464" indent="-283464" algn="just">
              <a:lnSpc>
                <a:spcPct val="110000"/>
              </a:lnSpc>
              <a:spcAft>
                <a:spcPts val="1000"/>
              </a:spcAft>
              <a:buFont typeface="Arial"/>
              <a:buChar char="•"/>
            </a:pPr>
            <a:r>
              <a:rPr sz="1500" b="0" i="0" u="none">
                <a:solidFill>
                  <a:srgbClr val="000000"/>
                </a:solidFill>
                <a:latin typeface="Times New Roman"/>
              </a:rPr>
              <a:t>Need for dual-layer safety: an independent, non-programmable hardware BMS backed by a predictive software supervisor with separate charge/load disconnects.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8</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Objectives of the Project</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283464" indent="-283464" algn="just">
              <a:lnSpc>
                <a:spcPct val="110000"/>
              </a:lnSpc>
              <a:spcAft>
                <a:spcPts val="2000"/>
              </a:spcAft>
              <a:buFont typeface="Arial"/>
              <a:buChar char="•"/>
            </a:pPr>
            <a:r>
              <a:rPr sz="1500" b="0" i="0" u="none">
                <a:solidFill>
                  <a:srgbClr val="000000"/>
                </a:solidFill>
                <a:latin typeface="Times New Roman"/>
              </a:rPr>
              <a:t>1. To formulate and validate a lumped-parameter two-node electro-thermal model capturing core and surface dynamics of 18650 Li-ion cells.</a:t>
            </a:r>
          </a:p>
          <a:p>
            <a:pPr marL="283464" indent="-283464" algn="just">
              <a:lnSpc>
                <a:spcPct val="110000"/>
              </a:lnSpc>
              <a:spcAft>
                <a:spcPts val="2000"/>
              </a:spcAft>
              <a:buFont typeface="Arial"/>
              <a:buChar char="•"/>
            </a:pPr>
            <a:r>
              <a:rPr sz="1500" b="0" i="0" u="none">
                <a:solidFill>
                  <a:srgbClr val="000000"/>
                </a:solidFill>
                <a:latin typeface="Times New Roman"/>
              </a:rPr>
              <a:t>2. To design an autonomous dual-layer safety architecture: an independent hardware BMS (Layer A) backed by an ESP32 supervisor (Layer B) with directional load and charge disconnects.</a:t>
            </a:r>
          </a:p>
          <a:p>
            <a:pPr marL="283464" indent="-283464" algn="just">
              <a:lnSpc>
                <a:spcPct val="110000"/>
              </a:lnSpc>
              <a:spcAft>
                <a:spcPts val="2000"/>
              </a:spcAft>
              <a:buFont typeface="Arial"/>
              <a:buChar char="•"/>
            </a:pPr>
            <a:r>
              <a:rPr sz="1500" b="0" i="0" u="none">
                <a:solidFill>
                  <a:srgbClr val="000000"/>
                </a:solidFill>
                <a:latin typeface="Times New Roman"/>
              </a:rPr>
              <a:t>3. To implement high-resolution analog front-end sensing: 16-bit individual cell voltages (ADS1115), pack current (ACS712 / INA226), and five NTC thermistors.</a:t>
            </a:r>
          </a:p>
          <a:p>
            <a:pPr marL="283464" indent="-283464" algn="just">
              <a:lnSpc>
                <a:spcPct val="110000"/>
              </a:lnSpc>
              <a:spcAft>
                <a:spcPts val="2000"/>
              </a:spcAft>
              <a:buFont typeface="Arial"/>
              <a:buChar char="•"/>
            </a:pPr>
            <a:r>
              <a:rPr sz="1500" b="0" i="0" u="none">
                <a:solidFill>
                  <a:srgbClr val="000000"/>
                </a:solidFill>
                <a:latin typeface="Times New Roman"/>
              </a:rPr>
              <a:t>4. To formulate and execute a real-time discrete Kalman filter at 5 Hz to estimate core temperature (T_core) and isolate abnormal fault heat (Q_ab) in Watts, latching trips in flash.</a:t>
            </a:r>
          </a:p>
          <a:p>
            <a:pPr marL="283464" indent="-283464" algn="just">
              <a:lnSpc>
                <a:spcPct val="110000"/>
              </a:lnSpc>
              <a:spcAft>
                <a:spcPts val="2000"/>
              </a:spcAft>
              <a:buFont typeface="Arial"/>
              <a:buChar char="•"/>
            </a:pPr>
            <a:r>
              <a:rPr sz="1500" b="0" i="0" u="none">
                <a:solidFill>
                  <a:srgbClr val="000000"/>
                </a:solidFill>
                <a:latin typeface="Times New Roman"/>
              </a:rPr>
              <a:t>5. To validate the system through KiCad 10 circuit simulations, automated safety testbenches, and prototype hardware bring-up.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9</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300" b="1" i="0" u="none">
                <a:solidFill>
                  <a:srgbClr val="000000"/>
                </a:solidFill>
                <a:latin typeface="Times New Roman"/>
              </a:rPr>
              <a:t>Methodology &amp; Safety Algorithm Flowchart</a:t>
            </a:r>
          </a:p>
        </p:txBody>
      </p:sp>
      <p:pic>
        <p:nvPicPr>
          <p:cNvPr id="8" name="Picture 7" descr="firmware_flow.png"/>
          <p:cNvPicPr>
            <a:picLocks noChangeAspect="1"/>
          </p:cNvPicPr>
          <p:nvPr/>
        </p:nvPicPr>
        <p:blipFill>
          <a:blip r:embed="rId2"/>
          <a:stretch>
            <a:fillRect/>
          </a:stretch>
        </p:blipFill>
        <p:spPr>
          <a:xfrm>
            <a:off x="1758461" y="1188720"/>
            <a:ext cx="5627076" cy="2926080"/>
          </a:xfrm>
          <a:prstGeom prst="rect">
            <a:avLst/>
          </a:prstGeom>
        </p:spPr>
      </p:pic>
      <p:sp>
        <p:nvSpPr>
          <p:cNvPr id="9" name="TextBox 8"/>
          <p:cNvSpPr txBox="1"/>
          <p:nvPr/>
        </p:nvSpPr>
        <p:spPr>
          <a:xfrm>
            <a:off x="566928" y="4251960"/>
            <a:ext cx="8074152" cy="256032"/>
          </a:xfrm>
          <a:prstGeom prst="rect">
            <a:avLst/>
          </a:prstGeom>
          <a:noFill/>
        </p:spPr>
        <p:txBody>
          <a:bodyPr wrap="square" lIns="0" rIns="0" tIns="0" bIns="0">
            <a:noAutofit/>
          </a:bodyPr>
          <a:lstStyle/>
          <a:p>
            <a:pPr algn="ctr"/>
            <a:r>
              <a:rPr sz="1300" b="0" i="1" u="none">
                <a:solidFill>
                  <a:srgbClr val="898989"/>
                </a:solidFill>
                <a:latin typeface="Times New Roman"/>
              </a:rPr>
              <a:t>Figure: FreeRTOS 5 Hz deterministic safety pipeline and graduated protection state machine</a:t>
            </a:r>
          </a:p>
        </p:txBody>
      </p:sp>
      <p:sp>
        <p:nvSpPr>
          <p:cNvPr id="10" name="TextBox 9"/>
          <p:cNvSpPr txBox="1"/>
          <p:nvPr/>
        </p:nvSpPr>
        <p:spPr>
          <a:xfrm>
            <a:off x="566928" y="4526280"/>
            <a:ext cx="3854196" cy="1691639"/>
          </a:xfrm>
          <a:prstGeom prst="rect">
            <a:avLst/>
          </a:prstGeom>
          <a:noFill/>
        </p:spPr>
        <p:txBody>
          <a:bodyPr wrap="square" lIns="0" rIns="0" tIns="0" bIns="0">
            <a:noAutofit/>
          </a:bodyPr>
          <a:lstStyle/>
          <a:p>
            <a:pPr marL="283464" indent="-283464" algn="just">
              <a:spcAft>
                <a:spcPts val="400"/>
              </a:spcAft>
              <a:buFont typeface="Arial"/>
              <a:buChar char="•"/>
            </a:pPr>
            <a:r>
              <a:rPr sz="1300" b="0" i="0" u="none">
                <a:solidFill>
                  <a:srgbClr val="000000"/>
                </a:solidFill>
                <a:latin typeface="Times New Roman"/>
              </a:rPr>
              <a:t>Deterministic 5 Hz Safety Cycle: FreeRTOS safety task executes precisely every 200 ms.</a:t>
            </a:r>
          </a:p>
          <a:p>
            <a:pPr marL="283464" indent="-283464" algn="just">
              <a:spcAft>
                <a:spcPts val="400"/>
              </a:spcAft>
              <a:buFont typeface="Arial"/>
              <a:buChar char="•"/>
            </a:pPr>
            <a:r>
              <a:rPr sz="1300" b="0" i="0" u="none">
                <a:solidFill>
                  <a:srgbClr val="000000"/>
                </a:solidFill>
                <a:latin typeface="Times New Roman"/>
              </a:rPr>
              <a:t>3-Stage Signal Conditioning: 5-sample median filter rejects spikes; 10 s LPF removes noise; 30 s regression computes dT/dt.</a:t>
            </a:r>
          </a:p>
        </p:txBody>
      </p:sp>
      <p:sp>
        <p:nvSpPr>
          <p:cNvPr id="11" name="TextBox 10"/>
          <p:cNvSpPr txBox="1"/>
          <p:nvPr/>
        </p:nvSpPr>
        <p:spPr>
          <a:xfrm>
            <a:off x="4786884" y="4526280"/>
            <a:ext cx="3854196" cy="1691639"/>
          </a:xfrm>
          <a:prstGeom prst="rect">
            <a:avLst/>
          </a:prstGeom>
          <a:noFill/>
        </p:spPr>
        <p:txBody>
          <a:bodyPr wrap="square" lIns="0" rIns="0" tIns="0" bIns="0">
            <a:noAutofit/>
          </a:bodyPr>
          <a:lstStyle/>
          <a:p>
            <a:pPr marL="283464" indent="-283464" algn="just">
              <a:spcAft>
                <a:spcPts val="400"/>
              </a:spcAft>
              <a:buFont typeface="Arial"/>
              <a:buChar char="•"/>
            </a:pPr>
            <a:r>
              <a:rPr sz="1300" b="0" i="0" u="none">
                <a:solidFill>
                  <a:srgbClr val="000000"/>
                </a:solidFill>
                <a:latin typeface="Times New Roman"/>
              </a:rPr>
              <a:t>Kalman State Observer: Estimates core temperature and isolates abnormal defect heat Q_ab in Watts.</a:t>
            </a:r>
          </a:p>
          <a:p>
            <a:pPr marL="283464" indent="-283464" algn="just">
              <a:spcAft>
                <a:spcPts val="400"/>
              </a:spcAft>
              <a:buFont typeface="Arial"/>
              <a:buChar char="•"/>
            </a:pPr>
            <a:r>
              <a:rPr sz="1300" b="0" i="0" u="none">
                <a:solidFill>
                  <a:srgbClr val="000000"/>
                </a:solidFill>
                <a:latin typeface="Times New Roman"/>
              </a:rPr>
              <a:t>Graduated Safety Actuation: Normal -&gt; Watch -&gt; Warning (1 Hz buzzer) -&gt; Latched Trip (relays open, logged to flash).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10</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500" b="1" i="0" u="none">
                <a:solidFill>
                  <a:srgbClr val="000000"/>
                </a:solidFill>
                <a:latin typeface="Times New Roman"/>
              </a:rPr>
              <a:t>System Architecture &amp; Block Diagram</a:t>
            </a:r>
          </a:p>
        </p:txBody>
      </p:sp>
      <p:pic>
        <p:nvPicPr>
          <p:cNvPr id="8" name="Picture 7" descr="system_architecture.png"/>
          <p:cNvPicPr>
            <a:picLocks noChangeAspect="1"/>
          </p:cNvPicPr>
          <p:nvPr/>
        </p:nvPicPr>
        <p:blipFill>
          <a:blip r:embed="rId2"/>
          <a:stretch>
            <a:fillRect/>
          </a:stretch>
        </p:blipFill>
        <p:spPr>
          <a:xfrm>
            <a:off x="365760" y="2244881"/>
            <a:ext cx="4359859" cy="2953453"/>
          </a:xfrm>
          <a:prstGeom prst="rect">
            <a:avLst/>
          </a:prstGeom>
        </p:spPr>
      </p:pic>
      <p:sp>
        <p:nvSpPr>
          <p:cNvPr id="9" name="TextBox 8"/>
          <p:cNvSpPr txBox="1"/>
          <p:nvPr/>
        </p:nvSpPr>
        <p:spPr>
          <a:xfrm>
            <a:off x="5045659" y="1207008"/>
            <a:ext cx="3686860" cy="5029200"/>
          </a:xfrm>
          <a:prstGeom prst="rect">
            <a:avLst/>
          </a:prstGeom>
          <a:noFill/>
        </p:spPr>
        <p:txBody>
          <a:bodyPr wrap="square" lIns="0" rIns="0" tIns="0" bIns="0">
            <a:noAutofit/>
          </a:bodyPr>
          <a:lstStyle/>
          <a:p>
            <a:pPr marL="283464" indent="-283464" algn="just">
              <a:lnSpc>
                <a:spcPct val="110000"/>
              </a:lnSpc>
              <a:spcAft>
                <a:spcPts val="400"/>
              </a:spcAft>
              <a:buFont typeface="Arial"/>
              <a:buChar char="•"/>
            </a:pPr>
            <a:r>
              <a:rPr sz="1300" b="0" i="0" u="none">
                <a:solidFill>
                  <a:srgbClr val="000000"/>
                </a:solidFill>
                <a:latin typeface="Times New Roman"/>
              </a:rPr>
              <a:t>Welded 4S1P Cell Pack: Panasonic NCR18650GA (14.4 V nom, 16.8 V max, 3.3 Ah / 47.5 Wh) with cell NTC thermistors.</a:t>
            </a:r>
          </a:p>
          <a:p>
            <a:pPr marL="283464" indent="-283464" algn="just">
              <a:lnSpc>
                <a:spcPct val="110000"/>
              </a:lnSpc>
              <a:spcAft>
                <a:spcPts val="400"/>
              </a:spcAft>
              <a:buFont typeface="Arial"/>
              <a:buChar char="•"/>
            </a:pPr>
            <a:r>
              <a:rPr sz="1300" b="0" i="0" u="none">
                <a:solidFill>
                  <a:srgbClr val="000000"/>
                </a:solidFill>
                <a:latin typeface="Times New Roman"/>
              </a:rPr>
              <a:t>Layer A (Hardware Safety BMS): Direct cell connection providing non-programmable OV (4.25 V), UV (2.70 V), OCD, SCD, and passive balancing.</a:t>
            </a:r>
          </a:p>
          <a:p>
            <a:pPr marL="283464" indent="-283464" algn="just">
              <a:lnSpc>
                <a:spcPct val="110000"/>
              </a:lnSpc>
              <a:spcAft>
                <a:spcPts val="400"/>
              </a:spcAft>
              <a:buFont typeface="Arial"/>
              <a:buChar char="•"/>
            </a:pPr>
            <a:r>
              <a:rPr sz="1300" b="0" i="0" u="none">
                <a:solidFill>
                  <a:srgbClr val="000000"/>
                </a:solidFill>
                <a:latin typeface="Times New Roman"/>
              </a:rPr>
              <a:t>Primary Pack Fuse: 7.5 A fast blade fuse directly at positive exit terminal for ultimate short-circuit protection.</a:t>
            </a:r>
          </a:p>
          <a:p>
            <a:pPr marL="283464" indent="-283464" algn="just">
              <a:lnSpc>
                <a:spcPct val="110000"/>
              </a:lnSpc>
              <a:spcAft>
                <a:spcPts val="400"/>
              </a:spcAft>
              <a:buFont typeface="Arial"/>
              <a:buChar char="•"/>
            </a:pPr>
            <a:r>
              <a:rPr sz="1300" b="0" i="0" u="none">
                <a:solidFill>
                  <a:srgbClr val="000000"/>
                </a:solidFill>
                <a:latin typeface="Times New Roman"/>
              </a:rPr>
              <a:t>Board A (Cell Taps): Conditions cell voltages via 330k/56k dividers and 10k/100nF RC filters into ADS1115 16-bit ADC.</a:t>
            </a:r>
          </a:p>
          <a:p>
            <a:pPr marL="283464" indent="-283464" algn="just">
              <a:lnSpc>
                <a:spcPct val="110000"/>
              </a:lnSpc>
              <a:spcAft>
                <a:spcPts val="400"/>
              </a:spcAft>
              <a:buFont typeface="Arial"/>
              <a:buChar char="•"/>
            </a:pPr>
            <a:r>
              <a:rPr sz="1300" b="0" i="0" u="none">
                <a:solidFill>
                  <a:srgbClr val="000000"/>
                </a:solidFill>
                <a:latin typeface="Times New Roman"/>
              </a:rPr>
              <a:t>Board B (Supervisor): ESP32 running 5 Hz Kalman observer; monitors current via ACS712 / INA226 Kelvin shunt.</a:t>
            </a:r>
          </a:p>
          <a:p>
            <a:pPr marL="283464" indent="-283464" algn="just">
              <a:lnSpc>
                <a:spcPct val="110000"/>
              </a:lnSpc>
              <a:spcAft>
                <a:spcPts val="400"/>
              </a:spcAft>
              <a:buFont typeface="Arial"/>
              <a:buChar char="•"/>
            </a:pPr>
            <a:r>
              <a:rPr sz="1300" b="0" i="0" u="none">
                <a:solidFill>
                  <a:srgbClr val="000000"/>
                </a:solidFill>
                <a:latin typeface="Times New Roman"/>
              </a:rPr>
              <a:t>Fail-Safe Contactor Disconnects: Normally-open K_LOAD and K_CHARGE relays in negative return (P-); hardware pull-ups ensure open on power loss.</a:t>
            </a:r>
          </a:p>
          <a:p>
            <a:pPr marL="283464" indent="-283464" algn="just">
              <a:lnSpc>
                <a:spcPct val="110000"/>
              </a:lnSpc>
              <a:spcAft>
                <a:spcPts val="400"/>
              </a:spcAft>
              <a:buFont typeface="Arial"/>
              <a:buChar char="•"/>
            </a:pPr>
            <a:r>
              <a:rPr sz="1300" b="0" i="0" u="none">
                <a:solidFill>
                  <a:srgbClr val="000000"/>
                </a:solidFill>
                <a:latin typeface="Times New Roman"/>
              </a:rPr>
              <a:t>Isolated Auxiliary Power: LM2596 buck converter (5.0 V) tapped before current sensor so MCU draw is excluded from rest monitoring.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11</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300" b="1" i="0" u="none">
                <a:solidFill>
                  <a:srgbClr val="000000"/>
                </a:solidFill>
                <a:latin typeface="Times New Roman"/>
              </a:rPr>
              <a:t>Mathematical Formulation: Thermal Model</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283464" indent="-283464" algn="just">
              <a:lnSpc>
                <a:spcPct val="110000"/>
              </a:lnSpc>
              <a:spcAft>
                <a:spcPts val="1300"/>
              </a:spcAft>
              <a:buFont typeface="Arial"/>
              <a:buChar char="•"/>
            </a:pPr>
            <a:r>
              <a:rPr sz="1400" b="0" i="0" u="none">
                <a:solidFill>
                  <a:srgbClr val="000000"/>
                </a:solidFill>
                <a:latin typeface="Times New Roman"/>
              </a:rPr>
              <a:t>A lumped-parameter two-node electro-thermal circuit models core and surface dynamics:</a:t>
            </a:r>
          </a:p>
          <a:p>
            <a:pPr marL="283464" indent="-283464" algn="just">
              <a:lnSpc>
                <a:spcPct val="110000"/>
              </a:lnSpc>
              <a:spcAft>
                <a:spcPts val="1300"/>
              </a:spcAft>
              <a:buFont typeface="Arial"/>
              <a:buChar char="•"/>
            </a:pPr>
            <a:r>
              <a:rPr sz="1400" b="0" i="0" u="none">
                <a:solidFill>
                  <a:srgbClr val="000000"/>
                </a:solidFill>
                <a:latin typeface="Times New Roman"/>
              </a:rPr>
              <a:t>Core Node Differential Equation:</a:t>
            </a:r>
          </a:p>
          <a:p>
            <a:pPr marL="283464" indent="-283464" algn="just">
              <a:lnSpc>
                <a:spcPct val="110000"/>
              </a:lnSpc>
              <a:spcAft>
                <a:spcPts val="1300"/>
              </a:spcAft>
              <a:buFont typeface="Arial"/>
              <a:buChar char="•"/>
            </a:pPr>
            <a:r>
              <a:rPr sz="1400" b="0" i="0" u="none">
                <a:solidFill>
                  <a:srgbClr val="000000"/>
                </a:solidFill>
                <a:latin typeface="Times New Roman"/>
              </a:rPr>
              <a:t>    C_core · (d T_core / dt) = I² R_int + Q_ab − (T_core − T_surf) / R_core</a:t>
            </a:r>
          </a:p>
          <a:p>
            <a:pPr marL="283464" indent="-283464" algn="just">
              <a:lnSpc>
                <a:spcPct val="110000"/>
              </a:lnSpc>
              <a:spcAft>
                <a:spcPts val="1300"/>
              </a:spcAft>
              <a:buFont typeface="Arial"/>
              <a:buChar char="•"/>
            </a:pPr>
            <a:r>
              <a:rPr sz="1400" b="0" i="0" u="none">
                <a:solidFill>
                  <a:srgbClr val="000000"/>
                </a:solidFill>
                <a:latin typeface="Times New Roman"/>
              </a:rPr>
              <a:t>Surface Node Differential Equation:</a:t>
            </a:r>
          </a:p>
          <a:p>
            <a:pPr marL="283464" indent="-283464" algn="just">
              <a:lnSpc>
                <a:spcPct val="110000"/>
              </a:lnSpc>
              <a:spcAft>
                <a:spcPts val="1300"/>
              </a:spcAft>
              <a:buFont typeface="Arial"/>
              <a:buChar char="•"/>
            </a:pPr>
            <a:r>
              <a:rPr sz="1400" b="0" i="0" u="none">
                <a:solidFill>
                  <a:srgbClr val="000000"/>
                </a:solidFill>
                <a:latin typeface="Times New Roman"/>
              </a:rPr>
              <a:t>    C_surf · (d T_surf / dt) = (T_core − T_surf) / R_core − (T_surf − T_amb) / R_air</a:t>
            </a:r>
          </a:p>
          <a:p>
            <a:pPr marL="283464" indent="-283464" algn="just">
              <a:lnSpc>
                <a:spcPct val="110000"/>
              </a:lnSpc>
              <a:spcAft>
                <a:spcPts val="1300"/>
              </a:spcAft>
              <a:buFont typeface="Arial"/>
              <a:buChar char="•"/>
            </a:pPr>
            <a:r>
              <a:rPr sz="1400" b="0" i="0" u="none">
                <a:solidFill>
                  <a:srgbClr val="000000"/>
                </a:solidFill>
                <a:latin typeface="Times New Roman"/>
              </a:rPr>
              <a:t>Physical Model Parameters (for 18650 3.3 Ah cell):</a:t>
            </a:r>
          </a:p>
          <a:p>
            <a:pPr marL="283464" indent="-283464" algn="just">
              <a:lnSpc>
                <a:spcPct val="110000"/>
              </a:lnSpc>
              <a:spcAft>
                <a:spcPts val="1300"/>
              </a:spcAft>
              <a:buFont typeface="Arial"/>
              <a:buChar char="•"/>
            </a:pPr>
            <a:r>
              <a:rPr sz="1400" b="0" i="0" u="none">
                <a:solidFill>
                  <a:srgbClr val="000000"/>
                </a:solidFill>
                <a:latin typeface="Times New Roman"/>
              </a:rPr>
              <a:t>    • C_core = 40.0 J/°C,  C_surf = 5.0 J/°C  (Thermal capacities)</a:t>
            </a:r>
          </a:p>
          <a:p>
            <a:pPr marL="283464" indent="-283464" algn="just">
              <a:lnSpc>
                <a:spcPct val="110000"/>
              </a:lnSpc>
              <a:spcAft>
                <a:spcPts val="1300"/>
              </a:spcAft>
              <a:buFont typeface="Arial"/>
              <a:buChar char="•"/>
            </a:pPr>
            <a:r>
              <a:rPr sz="1400" b="0" i="0" u="none">
                <a:solidFill>
                  <a:srgbClr val="000000"/>
                </a:solidFill>
                <a:latin typeface="Times New Roman"/>
              </a:rPr>
              <a:t>    • R_core = 2.0 °C/W  (Internal conduction resistance from core to can)</a:t>
            </a:r>
          </a:p>
          <a:p>
            <a:pPr marL="283464" indent="-283464" algn="just">
              <a:lnSpc>
                <a:spcPct val="110000"/>
              </a:lnSpc>
              <a:spcAft>
                <a:spcPts val="1300"/>
              </a:spcAft>
              <a:buFont typeface="Arial"/>
              <a:buChar char="•"/>
            </a:pPr>
            <a:r>
              <a:rPr sz="1400" b="0" i="0" u="none">
                <a:solidFill>
                  <a:srgbClr val="000000"/>
                </a:solidFill>
                <a:latin typeface="Times New Roman"/>
              </a:rPr>
              <a:t>    • R_air = 30.0 °C/W  (Convection resistance from can surface to ambient air)</a:t>
            </a:r>
          </a:p>
          <a:p>
            <a:pPr marL="283464" indent="-283464" algn="just">
              <a:lnSpc>
                <a:spcPct val="110000"/>
              </a:lnSpc>
              <a:spcAft>
                <a:spcPts val="1300"/>
              </a:spcAft>
              <a:buFont typeface="Arial"/>
              <a:buChar char="•"/>
            </a:pPr>
            <a:r>
              <a:rPr sz="1400" b="0" i="0" u="none">
                <a:solidFill>
                  <a:srgbClr val="000000"/>
                </a:solidFill>
                <a:latin typeface="Times New Roman"/>
              </a:rPr>
              <a:t>    • I² R_int: Known electrical Joule heating (R_int ≈ 35 mΩ nominal)</a:t>
            </a:r>
          </a:p>
          <a:p>
            <a:pPr marL="283464" indent="-283464" algn="just">
              <a:lnSpc>
                <a:spcPct val="110000"/>
              </a:lnSpc>
              <a:spcAft>
                <a:spcPts val="1300"/>
              </a:spcAft>
              <a:buFont typeface="Arial"/>
              <a:buChar char="•"/>
            </a:pPr>
            <a:r>
              <a:rPr sz="1400" b="0" i="0" u="none">
                <a:solidFill>
                  <a:srgbClr val="000000"/>
                </a:solidFill>
                <a:latin typeface="Times New Roman"/>
              </a:rPr>
              <a:t>    • Q_ab: Unknown abnormal fault heat generation in Watts (internal micro-short, defect).</a:t>
            </a:r>
          </a:p>
          <a:p>
            <a:pPr marL="283464" indent="-283464" algn="just">
              <a:lnSpc>
                <a:spcPct val="110000"/>
              </a:lnSpc>
              <a:spcAft>
                <a:spcPts val="1300"/>
              </a:spcAft>
              <a:buFont typeface="Arial"/>
              <a:buChar char="•"/>
            </a:pPr>
            <a:r>
              <a:rPr sz="1400" b="0" i="0" u="none">
                <a:solidFill>
                  <a:srgbClr val="000000"/>
                </a:solidFill>
                <a:latin typeface="Times New Roman"/>
              </a:rPr>
              <a:t>Hierarchical Protection Action:</a:t>
            </a:r>
          </a:p>
          <a:p>
            <a:pPr marL="283464" indent="-283464" algn="just">
              <a:lnSpc>
                <a:spcPct val="110000"/>
              </a:lnSpc>
              <a:spcAft>
                <a:spcPts val="1300"/>
              </a:spcAft>
              <a:buFont typeface="Arial"/>
              <a:buChar char="•"/>
            </a:pPr>
            <a:r>
              <a:rPr sz="1400" b="0" i="0" u="none">
                <a:solidFill>
                  <a:srgbClr val="000000"/>
                </a:solidFill>
                <a:latin typeface="Times New Roman"/>
              </a:rPr>
              <a:t>    • Level 0 (Normal): Q_ab &lt; 0.25 W  |  Level 1 (Watch): 0.25 W ≤ Q_ab &lt; 0.38 W</a:t>
            </a:r>
          </a:p>
          <a:p>
            <a:pPr marL="283464" indent="-283464" algn="just">
              <a:lnSpc>
                <a:spcPct val="110000"/>
              </a:lnSpc>
              <a:spcAft>
                <a:spcPts val="1300"/>
              </a:spcAft>
              <a:buFont typeface="Arial"/>
              <a:buChar char="•"/>
            </a:pPr>
            <a:r>
              <a:rPr sz="1400" b="0" i="0" u="none">
                <a:solidFill>
                  <a:srgbClr val="000000"/>
                </a:solidFill>
                <a:latin typeface="Times New Roman"/>
              </a:rPr>
              <a:t>    • Level 2 (Warning): Q_ab ≥ 0.38 W for 30 s  |  Level 3 (Trip): Q_ab ≥ 0.75 W for 10 s or T_core &gt; 60 °C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12</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500" b="1" i="0" u="none">
                <a:solidFill>
                  <a:srgbClr val="000000"/>
                </a:solidFill>
                <a:latin typeface="Times New Roman"/>
              </a:rPr>
              <a:t>KiCad Circuit Simulation Model</a:t>
            </a:r>
          </a:p>
        </p:txBody>
      </p:sp>
      <p:pic>
        <p:nvPicPr>
          <p:cNvPr id="8" name="Picture 7" descr="kicad_thermal_model.png"/>
          <p:cNvPicPr>
            <a:picLocks noChangeAspect="1"/>
          </p:cNvPicPr>
          <p:nvPr/>
        </p:nvPicPr>
        <p:blipFill>
          <a:blip r:embed="rId2"/>
          <a:stretch>
            <a:fillRect/>
          </a:stretch>
        </p:blipFill>
        <p:spPr>
          <a:xfrm>
            <a:off x="365760" y="2228392"/>
            <a:ext cx="4443983" cy="2666390"/>
          </a:xfrm>
          <a:prstGeom prst="rect">
            <a:avLst/>
          </a:prstGeom>
        </p:spPr>
      </p:pic>
      <p:sp>
        <p:nvSpPr>
          <p:cNvPr id="9" name="TextBox 8"/>
          <p:cNvSpPr txBox="1"/>
          <p:nvPr/>
        </p:nvSpPr>
        <p:spPr>
          <a:xfrm>
            <a:off x="365760" y="5961888"/>
            <a:ext cx="4443983" cy="274320"/>
          </a:xfrm>
          <a:prstGeom prst="rect">
            <a:avLst/>
          </a:prstGeom>
          <a:noFill/>
        </p:spPr>
        <p:txBody>
          <a:bodyPr wrap="square" lIns="0" rIns="0" tIns="0" bIns="0">
            <a:noAutofit/>
          </a:bodyPr>
          <a:lstStyle/>
          <a:p>
            <a:pPr algn="ctr"/>
            <a:r>
              <a:rPr sz="1200" b="0" i="1" u="none">
                <a:solidFill>
                  <a:srgbClr val="898989"/>
                </a:solidFill>
                <a:latin typeface="Times New Roman"/>
              </a:rPr>
              <a:t>Figure: KiCad 10 schematic of the two-node electro-thermal equivalent circuit</a:t>
            </a:r>
          </a:p>
        </p:txBody>
      </p:sp>
      <p:sp>
        <p:nvSpPr>
          <p:cNvPr id="10" name="TextBox 9"/>
          <p:cNvSpPr txBox="1"/>
          <p:nvPr/>
        </p:nvSpPr>
        <p:spPr>
          <a:xfrm>
            <a:off x="5129783" y="1207008"/>
            <a:ext cx="3602735" cy="4709160"/>
          </a:xfrm>
          <a:prstGeom prst="rect">
            <a:avLst/>
          </a:prstGeom>
          <a:noFill/>
        </p:spPr>
        <p:txBody>
          <a:bodyPr wrap="square" lIns="0" rIns="0" tIns="0" bIns="0">
            <a:noAutofit/>
          </a:bodyPr>
          <a:lstStyle/>
          <a:p>
            <a:pPr marL="283464" indent="-283464" algn="just">
              <a:lnSpc>
                <a:spcPct val="110000"/>
              </a:lnSpc>
              <a:spcAft>
                <a:spcPts val="400"/>
              </a:spcAft>
              <a:buFont typeface="Arial"/>
              <a:buChar char="•"/>
            </a:pPr>
            <a:r>
              <a:rPr sz="1300" b="0" i="0" u="none">
                <a:solidFill>
                  <a:srgbClr val="000000"/>
                </a:solidFill>
                <a:latin typeface="Times New Roman"/>
              </a:rPr>
              <a:t>Thermal Model Mapped to KiCad Circuit Domain: 1 V = 1 °C, 1 A = 1 W, 1 F = 1 J/°C, 1 Ω = 1 °C/W.</a:t>
            </a:r>
          </a:p>
          <a:p>
            <a:pPr marL="283464" indent="-283464" algn="just">
              <a:lnSpc>
                <a:spcPct val="110000"/>
              </a:lnSpc>
              <a:spcAft>
                <a:spcPts val="400"/>
              </a:spcAft>
              <a:buFont typeface="Arial"/>
              <a:buChar char="•"/>
            </a:pPr>
            <a:r>
              <a:rPr sz="1300" b="0" i="0" u="none">
                <a:solidFill>
                  <a:srgbClr val="000000"/>
                </a:solidFill>
                <a:latin typeface="Times New Roman"/>
              </a:rPr>
              <a:t>Core Thermal Capacitor: C_core = 40.0 F, representing internal heat capacity of cell jellyroll.</a:t>
            </a:r>
          </a:p>
          <a:p>
            <a:pPr marL="283464" indent="-283464" algn="just">
              <a:lnSpc>
                <a:spcPct val="110000"/>
              </a:lnSpc>
              <a:spcAft>
                <a:spcPts val="400"/>
              </a:spcAft>
              <a:buFont typeface="Arial"/>
              <a:buChar char="•"/>
            </a:pPr>
            <a:r>
              <a:rPr sz="1300" b="0" i="0" u="none">
                <a:solidFill>
                  <a:srgbClr val="000000"/>
                </a:solidFill>
                <a:latin typeface="Times New Roman"/>
              </a:rPr>
              <a:t>Surface Thermal Capacitor: C_surf = 5.0 F, representing steel can thermal capacity.</a:t>
            </a:r>
          </a:p>
          <a:p>
            <a:pPr marL="283464" indent="-283464" algn="just">
              <a:lnSpc>
                <a:spcPct val="110000"/>
              </a:lnSpc>
              <a:spcAft>
                <a:spcPts val="400"/>
              </a:spcAft>
              <a:buFont typeface="Arial"/>
              <a:buChar char="•"/>
            </a:pPr>
            <a:r>
              <a:rPr sz="1300" b="0" i="0" u="none">
                <a:solidFill>
                  <a:srgbClr val="000000"/>
                </a:solidFill>
                <a:latin typeface="Times New Roman"/>
              </a:rPr>
              <a:t>Conduction Resistor: R_core = 2.0 Ω, modeling internal core-to-surface heat conduction.</a:t>
            </a:r>
          </a:p>
          <a:p>
            <a:pPr marL="283464" indent="-283464" algn="just">
              <a:lnSpc>
                <a:spcPct val="110000"/>
              </a:lnSpc>
              <a:spcAft>
                <a:spcPts val="400"/>
              </a:spcAft>
              <a:buFont typeface="Arial"/>
              <a:buChar char="•"/>
            </a:pPr>
            <a:r>
              <a:rPr sz="1300" b="0" i="0" u="none">
                <a:solidFill>
                  <a:srgbClr val="000000"/>
                </a:solidFill>
                <a:latin typeface="Times New Roman"/>
              </a:rPr>
              <a:t>Convection Resistor: R_air = 30.0 Ω, modeling natural convection from can to ambient air.</a:t>
            </a:r>
          </a:p>
          <a:p>
            <a:pPr marL="283464" indent="-283464" algn="just">
              <a:lnSpc>
                <a:spcPct val="110000"/>
              </a:lnSpc>
              <a:spcAft>
                <a:spcPts val="400"/>
              </a:spcAft>
              <a:buFont typeface="Arial"/>
              <a:buChar char="•"/>
            </a:pPr>
            <a:r>
              <a:rPr sz="1300" b="0" i="0" u="none">
                <a:solidFill>
                  <a:srgbClr val="000000"/>
                </a:solidFill>
                <a:latin typeface="Times New Roman"/>
              </a:rPr>
              <a:t>Transient Stimulus: 1.0 W pulsed heat injection (current source I1) in cell core from t = 10 s.</a:t>
            </a:r>
          </a:p>
          <a:p>
            <a:pPr marL="283464" indent="-283464" algn="just">
              <a:lnSpc>
                <a:spcPct val="110000"/>
              </a:lnSpc>
              <a:spcAft>
                <a:spcPts val="400"/>
              </a:spcAft>
              <a:buFont typeface="Arial"/>
              <a:buChar char="•"/>
            </a:pPr>
            <a:r>
              <a:rPr sz="1300" b="0" i="0" u="none">
                <a:solidFill>
                  <a:srgbClr val="000000"/>
                </a:solidFill>
                <a:latin typeface="Times New Roman"/>
              </a:rPr>
              <a:t>SPICE Simulation Setup: KiCad 10 / ngspice .tran 1 3600 analysis validates transient and steady-state thermal behavior.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13</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500" b="1" i="0" u="none">
                <a:solidFill>
                  <a:srgbClr val="000000"/>
                </a:solidFill>
                <a:latin typeface="Times New Roman"/>
              </a:rPr>
              <a:t>KiCad Transient Simulation Results</a:t>
            </a:r>
          </a:p>
        </p:txBody>
      </p:sp>
      <p:pic>
        <p:nvPicPr>
          <p:cNvPr id="8" name="Picture 7" descr="sim_thermal.png"/>
          <p:cNvPicPr>
            <a:picLocks noChangeAspect="1"/>
          </p:cNvPicPr>
          <p:nvPr/>
        </p:nvPicPr>
        <p:blipFill>
          <a:blip r:embed="rId2"/>
          <a:stretch>
            <a:fillRect/>
          </a:stretch>
        </p:blipFill>
        <p:spPr>
          <a:xfrm>
            <a:off x="365760" y="2349592"/>
            <a:ext cx="4443983" cy="2423991"/>
          </a:xfrm>
          <a:prstGeom prst="rect">
            <a:avLst/>
          </a:prstGeom>
        </p:spPr>
      </p:pic>
      <p:sp>
        <p:nvSpPr>
          <p:cNvPr id="9" name="TextBox 8"/>
          <p:cNvSpPr txBox="1"/>
          <p:nvPr/>
        </p:nvSpPr>
        <p:spPr>
          <a:xfrm>
            <a:off x="365760" y="5961888"/>
            <a:ext cx="4443983" cy="274320"/>
          </a:xfrm>
          <a:prstGeom prst="rect">
            <a:avLst/>
          </a:prstGeom>
          <a:noFill/>
        </p:spPr>
        <p:txBody>
          <a:bodyPr wrap="square" lIns="0" rIns="0" tIns="0" bIns="0">
            <a:noAutofit/>
          </a:bodyPr>
          <a:lstStyle/>
          <a:p>
            <a:pPr algn="ctr"/>
            <a:r>
              <a:rPr sz="1200" b="0" i="1" u="none">
                <a:solidFill>
                  <a:srgbClr val="898989"/>
                </a:solidFill>
                <a:latin typeface="Times New Roman"/>
              </a:rPr>
              <a:t>Figure: KiCad / ngspice transient thermal step response: Core (red) and Surface (green) waveforms</a:t>
            </a:r>
          </a:p>
        </p:txBody>
      </p:sp>
      <p:sp>
        <p:nvSpPr>
          <p:cNvPr id="10" name="TextBox 9"/>
          <p:cNvSpPr txBox="1"/>
          <p:nvPr/>
        </p:nvSpPr>
        <p:spPr>
          <a:xfrm>
            <a:off x="5129783" y="1207008"/>
            <a:ext cx="3602735" cy="4709160"/>
          </a:xfrm>
          <a:prstGeom prst="rect">
            <a:avLst/>
          </a:prstGeom>
          <a:noFill/>
        </p:spPr>
        <p:txBody>
          <a:bodyPr wrap="square" lIns="0" rIns="0" tIns="0" bIns="0">
            <a:noAutofit/>
          </a:bodyPr>
          <a:lstStyle/>
          <a:p>
            <a:pPr marL="283464" indent="-283464" algn="just">
              <a:lnSpc>
                <a:spcPct val="110000"/>
              </a:lnSpc>
              <a:spcAft>
                <a:spcPts val="800"/>
              </a:spcAft>
              <a:buFont typeface="Arial"/>
              <a:buChar char="•"/>
            </a:pPr>
            <a:r>
              <a:rPr sz="1300" b="0" i="0" u="none">
                <a:solidFill>
                  <a:srgbClr val="000000"/>
                </a:solidFill>
                <a:latin typeface="Times New Roman"/>
              </a:rPr>
              <a:t>Transient Temperature Response: 1.0 W heat step injected at t = 0 with ambient temperature at 25.0 °C.</a:t>
            </a:r>
          </a:p>
          <a:p>
            <a:pPr marL="283464" indent="-283464" algn="just">
              <a:lnSpc>
                <a:spcPct val="110000"/>
              </a:lnSpc>
              <a:spcAft>
                <a:spcPts val="800"/>
              </a:spcAft>
              <a:buFont typeface="Arial"/>
              <a:buChar char="•"/>
            </a:pPr>
            <a:r>
              <a:rPr sz="1300" b="0" i="0" u="none">
                <a:solidFill>
                  <a:srgbClr val="000000"/>
                </a:solidFill>
                <a:latin typeface="Times New Roman"/>
              </a:rPr>
              <a:t>Core Temperature Dynamics: Core temperature rises immediately to 27.0 °C due to internal thermal resistance R_core (2.0 °C/W).</a:t>
            </a:r>
          </a:p>
          <a:p>
            <a:pPr marL="283464" indent="-283464" algn="just">
              <a:lnSpc>
                <a:spcPct val="110000"/>
              </a:lnSpc>
              <a:spcAft>
                <a:spcPts val="800"/>
              </a:spcAft>
              <a:buFont typeface="Arial"/>
              <a:buChar char="•"/>
            </a:pPr>
            <a:r>
              <a:rPr sz="1300" b="0" i="0" u="none">
                <a:solidFill>
                  <a:srgbClr val="000000"/>
                </a:solidFill>
                <a:latin typeface="Times New Roman"/>
              </a:rPr>
              <a:t>Surface Temperature Dynamics: Surface temperature lags by several minutes, governed by thermal conduction and convection delay.</a:t>
            </a:r>
          </a:p>
          <a:p>
            <a:pPr marL="283464" indent="-283464" algn="just">
              <a:lnSpc>
                <a:spcPct val="110000"/>
              </a:lnSpc>
              <a:spcAft>
                <a:spcPts val="800"/>
              </a:spcAft>
              <a:buFont typeface="Arial"/>
              <a:buChar char="•"/>
            </a:pPr>
            <a:r>
              <a:rPr sz="1300" b="0" i="0" u="none">
                <a:solidFill>
                  <a:srgbClr val="000000"/>
                </a:solidFill>
                <a:latin typeface="Times New Roman"/>
              </a:rPr>
              <a:t>Steady-State Verification: Surface settles at ΔT = Q × R_air = 1 W × 30 °C/W = 30 °C above ambient (55.0 °C total).</a:t>
            </a:r>
          </a:p>
          <a:p>
            <a:pPr marL="283464" indent="-283464" algn="just">
              <a:lnSpc>
                <a:spcPct val="110000"/>
              </a:lnSpc>
              <a:spcAft>
                <a:spcPts val="800"/>
              </a:spcAft>
              <a:buFont typeface="Arial"/>
              <a:buChar char="•"/>
            </a:pPr>
            <a:r>
              <a:rPr sz="1300" b="0" i="0" u="none">
                <a:solidFill>
                  <a:srgbClr val="000000"/>
                </a:solidFill>
                <a:latin typeface="Times New Roman"/>
              </a:rPr>
              <a:t>Core Steady-State: Core settles at ΔT = Q × (R_core + R_air) = 1 W × 32 °C/W = 32 °C above ambient (57.0 °C total).</a:t>
            </a:r>
          </a:p>
          <a:p>
            <a:pPr marL="283464" indent="-283464" algn="just">
              <a:lnSpc>
                <a:spcPct val="110000"/>
              </a:lnSpc>
              <a:spcAft>
                <a:spcPts val="800"/>
              </a:spcAft>
              <a:buFont typeface="Arial"/>
              <a:buChar char="•"/>
            </a:pPr>
            <a:r>
              <a:rPr sz="1300" b="0" i="0" u="none">
                <a:solidFill>
                  <a:srgbClr val="000000"/>
                </a:solidFill>
                <a:latin typeface="Times New Roman"/>
              </a:rPr>
              <a:t>Thermal Time Constant: Measured τ = 1350 s (22.5 min), confirming theoretical lumped capacitance calculations.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14</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300" b="1" i="0" u="none">
                <a:solidFill>
                  <a:srgbClr val="000000"/>
                </a:solidFill>
                <a:latin typeface="Times New Roman"/>
              </a:rPr>
              <a:t>Dynamic Defect Simulation &amp; 5-Min Forecast</a:t>
            </a:r>
          </a:p>
        </p:txBody>
      </p:sp>
      <p:pic>
        <p:nvPicPr>
          <p:cNvPr id="8" name="Picture 7" descr="defect-charts.png"/>
          <p:cNvPicPr>
            <a:picLocks noChangeAspect="1"/>
          </p:cNvPicPr>
          <p:nvPr/>
        </p:nvPicPr>
        <p:blipFill>
          <a:blip r:embed="rId2"/>
          <a:stretch>
            <a:fillRect/>
          </a:stretch>
        </p:blipFill>
        <p:spPr>
          <a:xfrm>
            <a:off x="365760" y="1188720"/>
            <a:ext cx="8412480" cy="2926080"/>
          </a:xfrm>
          <a:prstGeom prst="rect">
            <a:avLst/>
          </a:prstGeom>
        </p:spPr>
      </p:pic>
      <p:sp>
        <p:nvSpPr>
          <p:cNvPr id="9" name="TextBox 8"/>
          <p:cNvSpPr txBox="1"/>
          <p:nvPr/>
        </p:nvSpPr>
        <p:spPr>
          <a:xfrm>
            <a:off x="566928" y="4251960"/>
            <a:ext cx="8074152" cy="256032"/>
          </a:xfrm>
          <a:prstGeom prst="rect">
            <a:avLst/>
          </a:prstGeom>
          <a:noFill/>
        </p:spPr>
        <p:txBody>
          <a:bodyPr wrap="square" lIns="0" rIns="0" tIns="0" bIns="0">
            <a:noAutofit/>
          </a:bodyPr>
          <a:lstStyle/>
          <a:p>
            <a:pPr algn="ctr"/>
            <a:r>
              <a:rPr sz="1300" b="0" i="1" u="none">
                <a:solidFill>
                  <a:srgbClr val="898989"/>
                </a:solidFill>
                <a:latin typeface="Times New Roman"/>
              </a:rPr>
              <a:t>Figure: Defect simulation telemetry: Cell 2 core overheating, Q_ab rising to 1.5 W, and predictive contactor trip</a:t>
            </a:r>
          </a:p>
        </p:txBody>
      </p:sp>
      <p:sp>
        <p:nvSpPr>
          <p:cNvPr id="10" name="TextBox 9"/>
          <p:cNvSpPr txBox="1"/>
          <p:nvPr/>
        </p:nvSpPr>
        <p:spPr>
          <a:xfrm>
            <a:off x="566928" y="4526280"/>
            <a:ext cx="3854196" cy="1691639"/>
          </a:xfrm>
          <a:prstGeom prst="rect">
            <a:avLst/>
          </a:prstGeom>
          <a:noFill/>
        </p:spPr>
        <p:txBody>
          <a:bodyPr wrap="square" lIns="0" rIns="0" tIns="0" bIns="0">
            <a:noAutofit/>
          </a:bodyPr>
          <a:lstStyle/>
          <a:p>
            <a:pPr marL="283464" indent="-283464" algn="just">
              <a:spcAft>
                <a:spcPts val="400"/>
              </a:spcAft>
              <a:buFont typeface="Arial"/>
              <a:buChar char="•"/>
            </a:pPr>
            <a:r>
              <a:rPr sz="1300" b="0" i="0" u="none">
                <a:solidFill>
                  <a:srgbClr val="000000"/>
                </a:solidFill>
                <a:latin typeface="Times New Roman"/>
              </a:rPr>
              <a:t>Fault Injection Scenario: 3.0 A pack discharge combined with a 1.5 W internal defect injected into Cell 2.</a:t>
            </a:r>
          </a:p>
          <a:p>
            <a:pPr marL="283464" indent="-283464" algn="just">
              <a:spcAft>
                <a:spcPts val="400"/>
              </a:spcAft>
              <a:buFont typeface="Arial"/>
              <a:buChar char="•"/>
            </a:pPr>
            <a:r>
              <a:rPr sz="1300" b="0" i="0" u="none">
                <a:solidFill>
                  <a:srgbClr val="000000"/>
                </a:solidFill>
                <a:latin typeface="Times New Roman"/>
              </a:rPr>
              <a:t>Core Divergence: Cell 2 core climbs rapidly to 31.8 °C while surface lags at 28.1 °C.</a:t>
            </a:r>
          </a:p>
        </p:txBody>
      </p:sp>
      <p:sp>
        <p:nvSpPr>
          <p:cNvPr id="11" name="TextBox 10"/>
          <p:cNvSpPr txBox="1"/>
          <p:nvPr/>
        </p:nvSpPr>
        <p:spPr>
          <a:xfrm>
            <a:off x="4786884" y="4526280"/>
            <a:ext cx="3854196" cy="1691639"/>
          </a:xfrm>
          <a:prstGeom prst="rect">
            <a:avLst/>
          </a:prstGeom>
          <a:noFill/>
        </p:spPr>
        <p:txBody>
          <a:bodyPr wrap="square" lIns="0" rIns="0" tIns="0" bIns="0">
            <a:noAutofit/>
          </a:bodyPr>
          <a:lstStyle/>
          <a:p>
            <a:pPr marL="283464" indent="-283464" algn="just">
              <a:spcAft>
                <a:spcPts val="400"/>
              </a:spcAft>
              <a:buFont typeface="Arial"/>
              <a:buChar char="•"/>
            </a:pPr>
            <a:r>
              <a:rPr sz="1300" b="0" i="0" u="none">
                <a:solidFill>
                  <a:srgbClr val="000000"/>
                </a:solidFill>
                <a:latin typeface="Times New Roman"/>
              </a:rPr>
              <a:t>Predictive Trip: Observer detects Q_ab crossing 0.75 W; triggers Level 3 Trip at t = 112 s (surface at only 28.1 °C).</a:t>
            </a:r>
          </a:p>
          <a:p>
            <a:pPr marL="283464" indent="-283464" algn="just">
              <a:spcAft>
                <a:spcPts val="400"/>
              </a:spcAft>
              <a:buFont typeface="Arial"/>
              <a:buChar char="•"/>
            </a:pPr>
            <a:r>
              <a:rPr sz="1300" b="0" i="0" u="none">
                <a:solidFill>
                  <a:srgbClr val="000000"/>
                </a:solidFill>
                <a:latin typeface="Times New Roman"/>
              </a:rPr>
              <a:t>5-Minute Forecast Accuracy: RMS forecast error across cells 1–4 is 0.11 °C to 0.12 °C (well within &lt; 0.5 °C qualification limit).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15</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100" b="1" i="0" u="none">
                <a:solidFill>
                  <a:srgbClr val="000000"/>
                </a:solidFill>
                <a:latin typeface="Times New Roman"/>
              </a:rPr>
              <a:t>Performance Comparison: Predictive vs Fixed BMS</a:t>
            </a:r>
          </a:p>
        </p:txBody>
      </p:sp>
      <p:pic>
        <p:nvPicPr>
          <p:cNvPr id="8" name="Picture 7" descr="defect-compare.png"/>
          <p:cNvPicPr>
            <a:picLocks noChangeAspect="1"/>
          </p:cNvPicPr>
          <p:nvPr/>
        </p:nvPicPr>
        <p:blipFill>
          <a:blip r:embed="rId2"/>
          <a:stretch>
            <a:fillRect/>
          </a:stretch>
        </p:blipFill>
        <p:spPr>
          <a:xfrm>
            <a:off x="365760" y="1188720"/>
            <a:ext cx="8412480" cy="2926080"/>
          </a:xfrm>
          <a:prstGeom prst="rect">
            <a:avLst/>
          </a:prstGeom>
        </p:spPr>
      </p:pic>
      <p:sp>
        <p:nvSpPr>
          <p:cNvPr id="9" name="TextBox 8"/>
          <p:cNvSpPr txBox="1"/>
          <p:nvPr/>
        </p:nvSpPr>
        <p:spPr>
          <a:xfrm>
            <a:off x="566928" y="4251960"/>
            <a:ext cx="8074152" cy="256032"/>
          </a:xfrm>
          <a:prstGeom prst="rect">
            <a:avLst/>
          </a:prstGeom>
          <a:noFill/>
        </p:spPr>
        <p:txBody>
          <a:bodyPr wrap="square" lIns="0" rIns="0" tIns="0" bIns="0">
            <a:noAutofit/>
          </a:bodyPr>
          <a:lstStyle/>
          <a:p>
            <a:pPr algn="ctr"/>
            <a:r>
              <a:rPr sz="1300" b="0" i="1" u="none">
                <a:solidFill>
                  <a:srgbClr val="898989"/>
                </a:solidFill>
                <a:latin typeface="Times New Roman"/>
              </a:rPr>
              <a:t>Figure: Side-by-side run comparison: Predictive BMS (trip at 112 s, 28.1 °C) vs Fixed-Limit BMS (trip at 408 s, 55.2 °C)</a:t>
            </a:r>
          </a:p>
        </p:txBody>
      </p:sp>
      <p:sp>
        <p:nvSpPr>
          <p:cNvPr id="10" name="TextBox 9"/>
          <p:cNvSpPr txBox="1"/>
          <p:nvPr/>
        </p:nvSpPr>
        <p:spPr>
          <a:xfrm>
            <a:off x="566928" y="4526280"/>
            <a:ext cx="3854196" cy="1691639"/>
          </a:xfrm>
          <a:prstGeom prst="rect">
            <a:avLst/>
          </a:prstGeom>
          <a:noFill/>
        </p:spPr>
        <p:txBody>
          <a:bodyPr wrap="square" lIns="0" rIns="0" tIns="0" bIns="0">
            <a:noAutofit/>
          </a:bodyPr>
          <a:lstStyle/>
          <a:p>
            <a:pPr marL="283464" indent="-283464" algn="just">
              <a:spcAft>
                <a:spcPts val="400"/>
              </a:spcAft>
              <a:buFont typeface="Arial"/>
              <a:buChar char="•"/>
            </a:pPr>
            <a:r>
              <a:rPr sz="1300" b="0" i="0" u="none">
                <a:solidFill>
                  <a:srgbClr val="000000"/>
                </a:solidFill>
                <a:latin typeface="Times New Roman"/>
              </a:rPr>
              <a:t>Intervention Timing: Predictive BMS trips contactors at 112 s vs 408 s (6.8 min) for conventional BMS (acts 5.0 min earlier!).</a:t>
            </a:r>
          </a:p>
          <a:p>
            <a:pPr marL="283464" indent="-283464" algn="just">
              <a:spcAft>
                <a:spcPts val="400"/>
              </a:spcAft>
              <a:buFont typeface="Arial"/>
              <a:buChar char="•"/>
            </a:pPr>
            <a:r>
              <a:rPr sz="1300" b="0" i="0" u="none">
                <a:solidFill>
                  <a:srgbClr val="000000"/>
                </a:solidFill>
                <a:latin typeface="Times New Roman"/>
              </a:rPr>
              <a:t>Thermal Suppression: Hottest cell reaches only 28.1 °C under predictive protection vs 55.2 °C for conventional BMS (27.1 °C cooler!).</a:t>
            </a:r>
          </a:p>
        </p:txBody>
      </p:sp>
      <p:sp>
        <p:nvSpPr>
          <p:cNvPr id="11" name="TextBox 10"/>
          <p:cNvSpPr txBox="1"/>
          <p:nvPr/>
        </p:nvSpPr>
        <p:spPr>
          <a:xfrm>
            <a:off x="4786884" y="4526280"/>
            <a:ext cx="3854196" cy="1691639"/>
          </a:xfrm>
          <a:prstGeom prst="rect">
            <a:avLst/>
          </a:prstGeom>
          <a:noFill/>
        </p:spPr>
        <p:txBody>
          <a:bodyPr wrap="square" lIns="0" rIns="0" tIns="0" bIns="0">
            <a:noAutofit/>
          </a:bodyPr>
          <a:lstStyle/>
          <a:p>
            <a:pPr marL="283464" indent="-283464" algn="just">
              <a:spcAft>
                <a:spcPts val="400"/>
              </a:spcAft>
              <a:buFont typeface="Arial"/>
              <a:buChar char="•"/>
            </a:pPr>
            <a:r>
              <a:rPr sz="1300" b="0" i="0" u="none">
                <a:solidFill>
                  <a:srgbClr val="000000"/>
                </a:solidFill>
                <a:latin typeface="Times New Roman"/>
              </a:rPr>
              <a:t>Mechanism: Predictive observer acts on abnormal heat rate (Watts), whereas conventional BMS waits for outer can to reach 55 °C.</a:t>
            </a:r>
          </a:p>
          <a:p>
            <a:pPr marL="283464" indent="-283464" algn="just">
              <a:spcAft>
                <a:spcPts val="400"/>
              </a:spcAft>
              <a:buFont typeface="Arial"/>
              <a:buChar char="•"/>
            </a:pPr>
            <a:r>
              <a:rPr sz="1300" b="0" i="0" u="none">
                <a:solidFill>
                  <a:srgbClr val="000000"/>
                </a:solidFill>
                <a:latin typeface="Times New Roman"/>
              </a:rPr>
              <a:t>Zero-Current Rest Advantage: Detects 1.0 W micro-short in 58 seconds even when current is zero (conventional BMS is completely blind).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16</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300" b="1" i="0" u="none">
                <a:solidFill>
                  <a:srgbClr val="000000"/>
                </a:solidFill>
                <a:latin typeface="Times New Roman"/>
              </a:rPr>
              <a:t>Hardware Implementation: Board A (Cell Taps)</a:t>
            </a:r>
          </a:p>
        </p:txBody>
      </p:sp>
      <p:pic>
        <p:nvPicPr>
          <p:cNvPr id="8" name="Picture 7" descr="circuit_taps.png"/>
          <p:cNvPicPr>
            <a:picLocks noChangeAspect="1"/>
          </p:cNvPicPr>
          <p:nvPr/>
        </p:nvPicPr>
        <p:blipFill>
          <a:blip r:embed="rId2"/>
          <a:stretch>
            <a:fillRect/>
          </a:stretch>
        </p:blipFill>
        <p:spPr>
          <a:xfrm>
            <a:off x="365760" y="2164384"/>
            <a:ext cx="4191609" cy="2794406"/>
          </a:xfrm>
          <a:prstGeom prst="rect">
            <a:avLst/>
          </a:prstGeom>
        </p:spPr>
      </p:pic>
      <p:sp>
        <p:nvSpPr>
          <p:cNvPr id="9" name="TextBox 8"/>
          <p:cNvSpPr txBox="1"/>
          <p:nvPr/>
        </p:nvSpPr>
        <p:spPr>
          <a:xfrm>
            <a:off x="365760" y="5961888"/>
            <a:ext cx="4191609" cy="274320"/>
          </a:xfrm>
          <a:prstGeom prst="rect">
            <a:avLst/>
          </a:prstGeom>
          <a:noFill/>
        </p:spPr>
        <p:txBody>
          <a:bodyPr wrap="square" lIns="0" rIns="0" tIns="0" bIns="0">
            <a:noAutofit/>
          </a:bodyPr>
          <a:lstStyle/>
          <a:p>
            <a:pPr algn="ctr"/>
            <a:r>
              <a:rPr sz="1200" b="0" i="1" u="none">
                <a:solidFill>
                  <a:srgbClr val="898989"/>
                </a:solidFill>
                <a:latin typeface="Times New Roman"/>
              </a:rPr>
              <a:t>Figure: Board A cell-tap conditioning schematic with 330k/56k dividers and ADS1115 ADC</a:t>
            </a:r>
          </a:p>
        </p:txBody>
      </p:sp>
      <p:sp>
        <p:nvSpPr>
          <p:cNvPr id="10" name="TextBox 9"/>
          <p:cNvSpPr txBox="1"/>
          <p:nvPr/>
        </p:nvSpPr>
        <p:spPr>
          <a:xfrm>
            <a:off x="4877409" y="1207008"/>
            <a:ext cx="3855110" cy="4709160"/>
          </a:xfrm>
          <a:prstGeom prst="rect">
            <a:avLst/>
          </a:prstGeom>
          <a:noFill/>
        </p:spPr>
        <p:txBody>
          <a:bodyPr wrap="square" lIns="0" rIns="0" tIns="0" bIns="0">
            <a:noAutofit/>
          </a:bodyPr>
          <a:lstStyle/>
          <a:p>
            <a:pPr marL="283464" indent="-283464" algn="just">
              <a:lnSpc>
                <a:spcPct val="110000"/>
              </a:lnSpc>
              <a:spcAft>
                <a:spcPts val="800"/>
              </a:spcAft>
              <a:buFont typeface="Arial"/>
              <a:buChar char="•"/>
            </a:pPr>
            <a:r>
              <a:rPr sz="1300" b="0" i="0" u="none">
                <a:solidFill>
                  <a:srgbClr val="000000"/>
                </a:solidFill>
                <a:latin typeface="Times New Roman"/>
              </a:rPr>
              <a:t>Function: Conditions and filters four series cell tap voltages (B1, B2, B3, B+).</a:t>
            </a:r>
          </a:p>
          <a:p>
            <a:pPr marL="283464" indent="-283464" algn="just">
              <a:lnSpc>
                <a:spcPct val="110000"/>
              </a:lnSpc>
              <a:spcAft>
                <a:spcPts val="800"/>
              </a:spcAft>
              <a:buFont typeface="Arial"/>
              <a:buChar char="•"/>
            </a:pPr>
            <a:r>
              <a:rPr sz="1300" b="0" i="0" u="none">
                <a:solidFill>
                  <a:srgbClr val="000000"/>
                </a:solidFill>
                <a:latin typeface="Times New Roman"/>
              </a:rPr>
              <a:t>Precision Resistor Dividers: Four 330 kΩ over 56 kΩ 1% metal-film networks attenuate 16.8 V pack to 2.44 V for ADC range.</a:t>
            </a:r>
          </a:p>
          <a:p>
            <a:pPr marL="283464" indent="-283464" algn="just">
              <a:lnSpc>
                <a:spcPct val="110000"/>
              </a:lnSpc>
              <a:spcAft>
                <a:spcPts val="800"/>
              </a:spcAft>
              <a:buFont typeface="Arial"/>
              <a:buChar char="•"/>
            </a:pPr>
            <a:r>
              <a:rPr sz="1300" b="0" i="0" u="none">
                <a:solidFill>
                  <a:srgbClr val="000000"/>
                </a:solidFill>
                <a:latin typeface="Times New Roman"/>
              </a:rPr>
              <a:t>Low-Pass RC Filtering: 10 kΩ series resistor + 100 nF ceramic capacitor suppress switching noise (fc = 27.5 Hz).</a:t>
            </a:r>
          </a:p>
          <a:p>
            <a:pPr marL="283464" indent="-283464" algn="just">
              <a:lnSpc>
                <a:spcPct val="110000"/>
              </a:lnSpc>
              <a:spcAft>
                <a:spcPts val="800"/>
              </a:spcAft>
              <a:buFont typeface="Arial"/>
              <a:buChar char="•"/>
            </a:pPr>
            <a:r>
              <a:rPr sz="1300" b="0" i="0" u="none">
                <a:solidFill>
                  <a:srgbClr val="000000"/>
                </a:solidFill>
                <a:latin typeface="Times New Roman"/>
              </a:rPr>
              <a:t>ADS1115 ADC: 16-bit delta-sigma converter over I2C (0x48) provides 125 µV LSB resolution for precision rest-leak tracking.</a:t>
            </a:r>
          </a:p>
          <a:p>
            <a:pPr marL="283464" indent="-283464" algn="just">
              <a:lnSpc>
                <a:spcPct val="110000"/>
              </a:lnSpc>
              <a:spcAft>
                <a:spcPts val="800"/>
              </a:spcAft>
              <a:buFont typeface="Arial"/>
              <a:buChar char="•"/>
            </a:pPr>
            <a:r>
              <a:rPr sz="1300" b="0" i="0" u="none">
                <a:solidFill>
                  <a:srgbClr val="000000"/>
                </a:solidFill>
                <a:latin typeface="Times New Roman"/>
              </a:rPr>
              <a:t>Safety Grounding Isolation: J1 pin 1 (B-) left unconnected; prevents thin sense wire from carrying high pack load current.</a:t>
            </a:r>
          </a:p>
          <a:p>
            <a:pPr marL="283464" indent="-283464" algn="just">
              <a:lnSpc>
                <a:spcPct val="110000"/>
              </a:lnSpc>
              <a:spcAft>
                <a:spcPts val="800"/>
              </a:spcAft>
              <a:buFont typeface="Arial"/>
              <a:buChar char="•"/>
            </a:pPr>
            <a:r>
              <a:rPr sz="1300" b="0" i="0" u="none">
                <a:solidFill>
                  <a:srgbClr val="000000"/>
                </a:solidFill>
                <a:latin typeface="Times New Roman"/>
              </a:rPr>
              <a:t>Assembly Status: Board A perfboard fully assembled, soldered, and bench verified across all 4 channels.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17</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100" b="1" i="0" u="none">
                <a:solidFill>
                  <a:srgbClr val="000000"/>
                </a:solidFill>
                <a:latin typeface="Times New Roman"/>
              </a:rPr>
              <a:t>Hardware Implementation: Board B (Supervisor Bring-Up)</a:t>
            </a:r>
          </a:p>
        </p:txBody>
      </p:sp>
      <p:pic>
        <p:nvPicPr>
          <p:cNvPr id="8" name="Picture 7" descr="circuit_acs712.png"/>
          <p:cNvPicPr>
            <a:picLocks noChangeAspect="1"/>
          </p:cNvPicPr>
          <p:nvPr/>
        </p:nvPicPr>
        <p:blipFill>
          <a:blip r:embed="rId2"/>
          <a:stretch>
            <a:fillRect/>
          </a:stretch>
        </p:blipFill>
        <p:spPr>
          <a:xfrm>
            <a:off x="365760" y="2583545"/>
            <a:ext cx="4191609" cy="1956084"/>
          </a:xfrm>
          <a:prstGeom prst="rect">
            <a:avLst/>
          </a:prstGeom>
        </p:spPr>
      </p:pic>
      <p:sp>
        <p:nvSpPr>
          <p:cNvPr id="9" name="TextBox 8"/>
          <p:cNvSpPr txBox="1"/>
          <p:nvPr/>
        </p:nvSpPr>
        <p:spPr>
          <a:xfrm>
            <a:off x="365760" y="5961888"/>
            <a:ext cx="4191609" cy="274320"/>
          </a:xfrm>
          <a:prstGeom prst="rect">
            <a:avLst/>
          </a:prstGeom>
          <a:noFill/>
        </p:spPr>
        <p:txBody>
          <a:bodyPr wrap="square" lIns="0" rIns="0" tIns="0" bIns="0">
            <a:noAutofit/>
          </a:bodyPr>
          <a:lstStyle/>
          <a:p>
            <a:pPr algn="ctr"/>
            <a:r>
              <a:rPr sz="1200" b="0" i="1" u="none">
                <a:solidFill>
                  <a:srgbClr val="898989"/>
                </a:solidFill>
                <a:latin typeface="Times New Roman"/>
              </a:rPr>
              <a:t>Figure: Board B supervisor architecture with ACS712 current sensing fallback</a:t>
            </a:r>
          </a:p>
        </p:txBody>
      </p:sp>
      <p:sp>
        <p:nvSpPr>
          <p:cNvPr id="10" name="TextBox 9"/>
          <p:cNvSpPr txBox="1"/>
          <p:nvPr/>
        </p:nvSpPr>
        <p:spPr>
          <a:xfrm>
            <a:off x="4877409" y="1207008"/>
            <a:ext cx="3855110" cy="4709160"/>
          </a:xfrm>
          <a:prstGeom prst="rect">
            <a:avLst/>
          </a:prstGeom>
          <a:noFill/>
        </p:spPr>
        <p:txBody>
          <a:bodyPr wrap="square" lIns="0" rIns="0" tIns="0" bIns="0">
            <a:noAutofit/>
          </a:bodyPr>
          <a:lstStyle/>
          <a:p>
            <a:pPr marL="283464" indent="-283464" algn="just">
              <a:lnSpc>
                <a:spcPct val="110000"/>
              </a:lnSpc>
              <a:spcAft>
                <a:spcPts val="800"/>
              </a:spcAft>
              <a:buFont typeface="Arial"/>
              <a:buChar char="•"/>
            </a:pPr>
            <a:r>
              <a:rPr sz="1300" b="0" i="0" u="none">
                <a:solidFill>
                  <a:srgbClr val="000000"/>
                </a:solidFill>
                <a:latin typeface="Times New Roman"/>
              </a:rPr>
              <a:t>Microcontroller: ESP32-WROOM-32 DevKit running FreeRTOS with ADC1 dedicated to five NTC thermistors (10k B3950).</a:t>
            </a:r>
          </a:p>
          <a:p>
            <a:pPr marL="283464" indent="-283464" algn="just">
              <a:lnSpc>
                <a:spcPct val="110000"/>
              </a:lnSpc>
              <a:spcAft>
                <a:spcPts val="800"/>
              </a:spcAft>
              <a:buFont typeface="Arial"/>
              <a:buChar char="•"/>
            </a:pPr>
            <a:r>
              <a:rPr sz="1300" b="0" i="0" u="none">
                <a:solidFill>
                  <a:srgbClr val="000000"/>
                </a:solidFill>
                <a:latin typeface="Times New Roman"/>
              </a:rPr>
              <a:t>Current Sensing Fallback: ACS712-5A Hall-effect module wired on ADC1_CH3 (GPIO39/VN); firmware auto-detects and runs telemetry.</a:t>
            </a:r>
          </a:p>
          <a:p>
            <a:pPr marL="283464" indent="-283464" algn="just">
              <a:lnSpc>
                <a:spcPct val="110000"/>
              </a:lnSpc>
              <a:spcAft>
                <a:spcPts val="800"/>
              </a:spcAft>
              <a:buFont typeface="Arial"/>
              <a:buChar char="•"/>
            </a:pPr>
            <a:r>
              <a:rPr sz="1300" b="0" i="0" u="none">
                <a:solidFill>
                  <a:srgbClr val="000000"/>
                </a:solidFill>
                <a:latin typeface="Times New Roman"/>
              </a:rPr>
              <a:t>Seamless INA226 Revertibility: Plug-in I2C header J8 wired; firmware automatically prioritizes INA226 over I2C once installed.</a:t>
            </a:r>
          </a:p>
          <a:p>
            <a:pPr marL="283464" indent="-283464" algn="just">
              <a:lnSpc>
                <a:spcPct val="110000"/>
              </a:lnSpc>
              <a:spcAft>
                <a:spcPts val="800"/>
              </a:spcAft>
              <a:buFont typeface="Arial"/>
              <a:buChar char="•"/>
            </a:pPr>
            <a:r>
              <a:rPr sz="1300" b="0" i="0" u="none">
                <a:solidFill>
                  <a:srgbClr val="000000"/>
                </a:solidFill>
                <a:latin typeface="Times New Roman"/>
              </a:rPr>
              <a:t>Relay Contactor Control: Two-channel 5 V relay module switching negative return lines (P-); hardware pull-ups ensure open fail-safe.</a:t>
            </a:r>
          </a:p>
          <a:p>
            <a:pPr marL="283464" indent="-283464" algn="just">
              <a:lnSpc>
                <a:spcPct val="110000"/>
              </a:lnSpc>
              <a:spcAft>
                <a:spcPts val="800"/>
              </a:spcAft>
              <a:buFont typeface="Arial"/>
              <a:buChar char="•"/>
            </a:pPr>
            <a:r>
              <a:rPr sz="1300" b="0" i="0" u="none">
                <a:solidFill>
                  <a:srgbClr val="000000"/>
                </a:solidFill>
                <a:latin typeface="Times New Roman"/>
              </a:rPr>
              <a:t>Audio/Visual Alarm: Piezo buzzer and status LED on GPIO27 (pulsing at 1 Hz for Warning; steady on for latched Trip).</a:t>
            </a:r>
          </a:p>
          <a:p>
            <a:pPr marL="283464" indent="-283464" algn="just">
              <a:lnSpc>
                <a:spcPct val="110000"/>
              </a:lnSpc>
              <a:spcAft>
                <a:spcPts val="800"/>
              </a:spcAft>
              <a:buFont typeface="Arial"/>
              <a:buChar char="•"/>
            </a:pPr>
            <a:r>
              <a:rPr sz="1300" b="0" i="0" u="none">
                <a:solidFill>
                  <a:srgbClr val="000000"/>
                </a:solidFill>
                <a:latin typeface="Times New Roman"/>
              </a:rPr>
              <a:t>Status &amp; Work Done: Board B perfboard assembly &amp; wiring actively in progress; firmware tested and verified live on ESP32.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18</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500" b="1" i="0" u="none">
                <a:solidFill>
                  <a:srgbClr val="000000"/>
                </a:solidFill>
                <a:latin typeface="Times New Roman"/>
              </a:rPr>
              <a:t>Live ESP32 Web Dashboard &amp; Telemetry</a:t>
            </a:r>
          </a:p>
        </p:txBody>
      </p:sp>
      <p:pic>
        <p:nvPicPr>
          <p:cNvPr id="8" name="Picture 7" descr="esp32_dashboard_live.png"/>
          <p:cNvPicPr>
            <a:picLocks noChangeAspect="1"/>
          </p:cNvPicPr>
          <p:nvPr/>
        </p:nvPicPr>
        <p:blipFill>
          <a:blip r:embed="rId2"/>
          <a:stretch>
            <a:fillRect/>
          </a:stretch>
        </p:blipFill>
        <p:spPr>
          <a:xfrm>
            <a:off x="365760" y="2165070"/>
            <a:ext cx="4359859" cy="2793034"/>
          </a:xfrm>
          <a:prstGeom prst="rect">
            <a:avLst/>
          </a:prstGeom>
        </p:spPr>
      </p:pic>
      <p:sp>
        <p:nvSpPr>
          <p:cNvPr id="9" name="TextBox 8"/>
          <p:cNvSpPr txBox="1"/>
          <p:nvPr/>
        </p:nvSpPr>
        <p:spPr>
          <a:xfrm>
            <a:off x="365760" y="5961888"/>
            <a:ext cx="4359859" cy="274320"/>
          </a:xfrm>
          <a:prstGeom prst="rect">
            <a:avLst/>
          </a:prstGeom>
          <a:noFill/>
        </p:spPr>
        <p:txBody>
          <a:bodyPr wrap="square" lIns="0" rIns="0" tIns="0" bIns="0">
            <a:noAutofit/>
          </a:bodyPr>
          <a:lstStyle/>
          <a:p>
            <a:pPr algn="ctr"/>
            <a:r>
              <a:rPr sz="1200" b="0" i="1" u="none">
                <a:solidFill>
                  <a:srgbClr val="898989"/>
                </a:solidFill>
                <a:latin typeface="Times New Roman"/>
              </a:rPr>
              <a:t>Figure: Live ESP32 web dashboard snapshot showing active Wi-Fi telemetry and fail-safe disconnect banner</a:t>
            </a:r>
          </a:p>
        </p:txBody>
      </p:sp>
      <p:sp>
        <p:nvSpPr>
          <p:cNvPr id="10" name="TextBox 9"/>
          <p:cNvSpPr txBox="1"/>
          <p:nvPr/>
        </p:nvSpPr>
        <p:spPr>
          <a:xfrm>
            <a:off x="5045659" y="1207008"/>
            <a:ext cx="3686860" cy="4709160"/>
          </a:xfrm>
          <a:prstGeom prst="rect">
            <a:avLst/>
          </a:prstGeom>
          <a:noFill/>
        </p:spPr>
        <p:txBody>
          <a:bodyPr wrap="square" lIns="0" rIns="0" tIns="0" bIns="0">
            <a:noAutofit/>
          </a:bodyPr>
          <a:lstStyle/>
          <a:p>
            <a:pPr marL="283464" indent="-283464" algn="just">
              <a:lnSpc>
                <a:spcPct val="110000"/>
              </a:lnSpc>
              <a:spcAft>
                <a:spcPts val="800"/>
              </a:spcAft>
              <a:buFont typeface="Arial"/>
              <a:buChar char="•"/>
            </a:pPr>
            <a:r>
              <a:rPr sz="1300" b="0" i="0" u="none">
                <a:solidFill>
                  <a:srgbClr val="000000"/>
                </a:solidFill>
                <a:latin typeface="Times New Roman"/>
              </a:rPr>
              <a:t>Embedded Web Server: ESP32 broadcasts Wi-Fi Access Point ('PredictiveBMS') and serves live HTML5 responsive dashboard.</a:t>
            </a:r>
          </a:p>
          <a:p>
            <a:pPr marL="283464" indent="-283464" algn="just">
              <a:lnSpc>
                <a:spcPct val="110000"/>
              </a:lnSpc>
              <a:spcAft>
                <a:spcPts val="800"/>
              </a:spcAft>
              <a:buFont typeface="Arial"/>
              <a:buChar char="•"/>
            </a:pPr>
            <a:r>
              <a:rPr sz="1300" b="0" i="0" u="none">
                <a:solidFill>
                  <a:srgbClr val="000000"/>
                </a:solidFill>
                <a:latin typeface="Times New Roman"/>
              </a:rPr>
              <a:t>Fail-Safe Safety Banner: Red top status bar explicitly indicates: 'CURRENT / VOLTAGE IS NOT SENSED · BATTERY IS DISCONNECTED'.</a:t>
            </a:r>
          </a:p>
          <a:p>
            <a:pPr marL="283464" indent="-283464" algn="just">
              <a:lnSpc>
                <a:spcPct val="110000"/>
              </a:lnSpc>
              <a:spcAft>
                <a:spcPts val="800"/>
              </a:spcAft>
              <a:buFont typeface="Arial"/>
              <a:buChar char="•"/>
            </a:pPr>
            <a:r>
              <a:rPr sz="1300" b="0" i="0" u="none">
                <a:solidFill>
                  <a:srgbClr val="000000"/>
                </a:solidFill>
                <a:latin typeface="Times New Roman"/>
              </a:rPr>
              <a:t>Relay Contactor Status: Visual contactor indicators render in OPEN state, guaranteeing fail-safe isolation during bring-up.</a:t>
            </a:r>
          </a:p>
          <a:p>
            <a:pPr marL="283464" indent="-283464" algn="just">
              <a:lnSpc>
                <a:spcPct val="110000"/>
              </a:lnSpc>
              <a:spcAft>
                <a:spcPts val="800"/>
              </a:spcAft>
              <a:buFont typeface="Arial"/>
              <a:buChar char="•"/>
            </a:pPr>
            <a:r>
              <a:rPr sz="1300" b="0" i="0" u="none">
                <a:solidFill>
                  <a:srgbClr val="000000"/>
                </a:solidFill>
                <a:latin typeface="Times New Roman"/>
              </a:rPr>
              <a:t>Real-Time Telemetry: 4S individual cell voltage cards, pack current, ambient/cell temperatures, and estimated thermal power.</a:t>
            </a:r>
          </a:p>
          <a:p>
            <a:pPr marL="283464" indent="-283464" algn="just">
              <a:lnSpc>
                <a:spcPct val="110000"/>
              </a:lnSpc>
              <a:spcAft>
                <a:spcPts val="800"/>
              </a:spcAft>
              <a:buFont typeface="Arial"/>
              <a:buChar char="•"/>
            </a:pPr>
            <a:r>
              <a:rPr sz="1300" b="0" i="0" u="none">
                <a:solidFill>
                  <a:srgbClr val="000000"/>
                </a:solidFill>
                <a:latin typeface="Times New Roman"/>
              </a:rPr>
              <a:t>Air-Gapped Telemetry: HTTP server runs in low-priority FreeRTOS task, completely decoupled from the 5 Hz safety loop.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19</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500" b="1" i="0" u="none">
                <a:solidFill>
                  <a:srgbClr val="000000"/>
                </a:solidFill>
                <a:latin typeface="Times New Roman"/>
              </a:rPr>
              <a:t>Conclusion &amp; Current Project Status</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283464" indent="-283464" algn="just">
              <a:lnSpc>
                <a:spcPct val="110000"/>
              </a:lnSpc>
              <a:spcAft>
                <a:spcPts val="1300"/>
              </a:spcAft>
              <a:buFont typeface="Arial"/>
              <a:buChar char="•"/>
            </a:pPr>
            <a:r>
              <a:rPr sz="1400" b="0" i="0" u="none">
                <a:solidFill>
                  <a:srgbClr val="000000"/>
                </a:solidFill>
                <a:latin typeface="Times New Roman"/>
              </a:rPr>
              <a:t>Stage-1 Milestones Successfully Achieved:</a:t>
            </a:r>
          </a:p>
          <a:p>
            <a:pPr marL="283464" indent="-283464" algn="just">
              <a:lnSpc>
                <a:spcPct val="110000"/>
              </a:lnSpc>
              <a:spcAft>
                <a:spcPts val="1300"/>
              </a:spcAft>
              <a:buFont typeface="Arial"/>
              <a:buChar char="•"/>
            </a:pPr>
            <a:r>
              <a:rPr sz="1400" b="0" i="0" u="none">
                <a:solidFill>
                  <a:srgbClr val="000000"/>
                </a:solidFill>
                <a:latin typeface="Times New Roman"/>
              </a:rPr>
              <a:t>    • Mathematical Formulation: Two-node lumped electro-thermal model and discrete Kalman observer formulated and validated.</a:t>
            </a:r>
          </a:p>
          <a:p>
            <a:pPr marL="283464" indent="-283464" algn="just">
              <a:lnSpc>
                <a:spcPct val="110000"/>
              </a:lnSpc>
              <a:spcAft>
                <a:spcPts val="1300"/>
              </a:spcAft>
              <a:buFont typeface="Arial"/>
              <a:buChar char="•"/>
            </a:pPr>
            <a:r>
              <a:rPr sz="1400" b="0" i="0" u="none">
                <a:solidFill>
                  <a:srgbClr val="000000"/>
                </a:solidFill>
                <a:latin typeface="Times New Roman"/>
              </a:rPr>
              <a:t>    • Simulation Verification: KiCad 10 / ngspice circuit simulations completed; 30-scenario automated testbench passed (100% pass).</a:t>
            </a:r>
          </a:p>
          <a:p>
            <a:pPr marL="283464" indent="-283464" algn="just">
              <a:lnSpc>
                <a:spcPct val="110000"/>
              </a:lnSpc>
              <a:spcAft>
                <a:spcPts val="1300"/>
              </a:spcAft>
              <a:buFont typeface="Arial"/>
              <a:buChar char="•"/>
            </a:pPr>
            <a:r>
              <a:rPr sz="1400" b="0" i="0" u="none">
                <a:solidFill>
                  <a:srgbClr val="000000"/>
                </a:solidFill>
                <a:latin typeface="Times New Roman"/>
              </a:rPr>
              <a:t>    • Predictive Advantage Proved: Acts 5.0 minutes earlier and keeps cells 27.1 °C cooler than conventional fixed-threshold BMS.</a:t>
            </a:r>
          </a:p>
          <a:p>
            <a:pPr marL="283464" indent="-283464" algn="just">
              <a:lnSpc>
                <a:spcPct val="110000"/>
              </a:lnSpc>
              <a:spcAft>
                <a:spcPts val="1300"/>
              </a:spcAft>
              <a:buFont typeface="Arial"/>
              <a:buChar char="•"/>
            </a:pPr>
            <a:r>
              <a:rPr sz="1400" b="0" i="0" u="none">
                <a:solidFill>
                  <a:srgbClr val="000000"/>
                </a:solidFill>
                <a:latin typeface="Times New Roman"/>
              </a:rPr>
              <a:t>    • Embedded Firmware: Production C++17 FreeRTOS firmware built, flashed to ESP32 hardware, and executing 5 Hz safety cycle.</a:t>
            </a:r>
          </a:p>
          <a:p>
            <a:pPr marL="283464" indent="-283464" algn="just">
              <a:lnSpc>
                <a:spcPct val="110000"/>
              </a:lnSpc>
              <a:spcAft>
                <a:spcPts val="1300"/>
              </a:spcAft>
              <a:buFont typeface="Arial"/>
              <a:buChar char="•"/>
            </a:pPr>
            <a:r>
              <a:rPr sz="1400" b="0" i="0" u="none">
                <a:solidFill>
                  <a:srgbClr val="000000"/>
                </a:solidFill>
                <a:latin typeface="Times New Roman"/>
              </a:rPr>
              <a:t>    • Live Web Dashboard: Operational over Wi-Fi AP with fail-safe status indicators and real-time telemetry.</a:t>
            </a:r>
          </a:p>
          <a:p>
            <a:pPr marL="283464" indent="-283464" algn="just">
              <a:lnSpc>
                <a:spcPct val="110000"/>
              </a:lnSpc>
              <a:spcAft>
                <a:spcPts val="1300"/>
              </a:spcAft>
              <a:buFont typeface="Arial"/>
              <a:buChar char="•"/>
            </a:pPr>
            <a:r>
              <a:rPr sz="1400" b="0" i="0" u="none">
                <a:solidFill>
                  <a:srgbClr val="000000"/>
                </a:solidFill>
                <a:latin typeface="Times New Roman"/>
              </a:rPr>
              <a:t>    • Board A (Cell Taps): 100% constructed, soldered, calibrated, and verified on bench.</a:t>
            </a:r>
          </a:p>
          <a:p>
            <a:pPr marL="283464" indent="-283464" algn="just">
              <a:lnSpc>
                <a:spcPct val="110000"/>
              </a:lnSpc>
              <a:spcAft>
                <a:spcPts val="1300"/>
              </a:spcAft>
              <a:buFont typeface="Arial"/>
              <a:buChar char="•"/>
            </a:pPr>
            <a:r>
              <a:rPr sz="1400" b="0" i="0" u="none">
                <a:solidFill>
                  <a:srgbClr val="000000"/>
                </a:solidFill>
                <a:latin typeface="Times New Roman"/>
              </a:rPr>
              <a:t>Current Work (In Progress):</a:t>
            </a:r>
          </a:p>
          <a:p>
            <a:pPr marL="283464" indent="-283464" algn="just">
              <a:lnSpc>
                <a:spcPct val="110000"/>
              </a:lnSpc>
              <a:spcAft>
                <a:spcPts val="1300"/>
              </a:spcAft>
              <a:buFont typeface="Arial"/>
              <a:buChar char="•"/>
            </a:pPr>
            <a:r>
              <a:rPr sz="1400" b="0" i="0" u="none">
                <a:solidFill>
                  <a:srgbClr val="000000"/>
                </a:solidFill>
                <a:latin typeface="Times New Roman"/>
              </a:rPr>
              <a:t>    • Board B (Supervisor): Perfboard wiring in progress with ACS712 current sensor fallback.</a:t>
            </a:r>
          </a:p>
          <a:p>
            <a:pPr marL="283464" indent="-283464" algn="just">
              <a:lnSpc>
                <a:spcPct val="110000"/>
              </a:lnSpc>
              <a:spcAft>
                <a:spcPts val="1300"/>
              </a:spcAft>
              <a:buFont typeface="Arial"/>
              <a:buChar char="•"/>
            </a:pPr>
            <a:r>
              <a:rPr sz="1400" b="0" i="0" u="none">
                <a:solidFill>
                  <a:srgbClr val="000000"/>
                </a:solidFill>
                <a:latin typeface="Times New Roman"/>
              </a:rPr>
              <a:t>Stage-2 Plan:</a:t>
            </a:r>
          </a:p>
          <a:p>
            <a:pPr marL="283464" indent="-283464" algn="just">
              <a:lnSpc>
                <a:spcPct val="110000"/>
              </a:lnSpc>
              <a:spcAft>
                <a:spcPts val="1300"/>
              </a:spcAft>
              <a:buFont typeface="Arial"/>
              <a:buChar char="•"/>
            </a:pPr>
            <a:r>
              <a:rPr sz="1400" b="0" i="0" u="none">
                <a:solidFill>
                  <a:srgbClr val="000000"/>
                </a:solidFill>
                <a:latin typeface="Times New Roman"/>
              </a:rPr>
              <a:t>    • Complete Board B wiring, connect 4S1P cell pack with Layer A hardware BMS, and conduct pack thermal chamber tests.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20</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Project Timeline</a:t>
            </a:r>
          </a:p>
        </p:txBody>
      </p:sp>
      <p:graphicFrame>
        <p:nvGraphicFramePr>
          <p:cNvPr id="8" name="Table 7"/>
          <p:cNvGraphicFramePr>
            <a:graphicFrameLocks noGrp="1"/>
          </p:cNvGraphicFramePr>
          <p:nvPr/>
        </p:nvGraphicFramePr>
        <p:xfrm>
          <a:off x="320039" y="1261872"/>
          <a:ext cx="8503920" cy="4059935"/>
        </p:xfrm>
        <a:graphic>
          <a:graphicData uri="http://schemas.openxmlformats.org/drawingml/2006/table">
            <a:tbl>
              <a:tblPr firstRow="1">
                <a:tableStyleId>{5C22544A-7EE6-4342-B048-85BDC9FD1C3A}</a:tableStyleId>
              </a:tblPr>
              <a:tblGrid>
                <a:gridCol w="3474720"/>
                <a:gridCol w="1005840"/>
                <a:gridCol w="1005840"/>
                <a:gridCol w="1005840"/>
                <a:gridCol w="1005840"/>
                <a:gridCol w="1005840"/>
              </a:tblGrid>
              <a:tr h="676655">
                <a:tc>
                  <a:txBody>
                    <a:bodyPr/>
                    <a:lstStyle/>
                    <a:p>
                      <a:pPr algn="ctr"/>
                      <a:r>
                        <a:rPr sz="1500" b="1" i="0" u="none">
                          <a:solidFill>
                            <a:srgbClr val="FFFFFF"/>
                          </a:solidFill>
                          <a:latin typeface="Times New Roman"/>
                        </a:rPr>
                        <a:t>Activity / Milestone</a:t>
                      </a:r>
                    </a:p>
                  </a:txBody>
                  <a:tcPr anchor="ctr" marL="64008" marR="64008">
                    <a:solidFill>
                      <a:srgbClr val="4F81BD"/>
                    </a:solidFill>
                  </a:tcPr>
                </a:tc>
                <a:tc>
                  <a:txBody>
                    <a:bodyPr/>
                    <a:lstStyle/>
                    <a:p>
                      <a:pPr algn="ctr"/>
                      <a:r>
                        <a:rPr sz="1500" b="1" i="0" u="none">
                          <a:solidFill>
                            <a:srgbClr val="FFFFFF"/>
                          </a:solidFill>
                          <a:latin typeface="Times New Roman"/>
                        </a:rPr>
                        <a:t>Month 1</a:t>
                      </a:r>
                    </a:p>
                  </a:txBody>
                  <a:tcPr anchor="ctr" marL="64008" marR="64008">
                    <a:solidFill>
                      <a:srgbClr val="4F81BD"/>
                    </a:solidFill>
                  </a:tcPr>
                </a:tc>
                <a:tc>
                  <a:txBody>
                    <a:bodyPr/>
                    <a:lstStyle/>
                    <a:p>
                      <a:pPr algn="ctr"/>
                      <a:r>
                        <a:rPr sz="1500" b="1" i="0" u="none">
                          <a:solidFill>
                            <a:srgbClr val="FFFFFF"/>
                          </a:solidFill>
                          <a:latin typeface="Times New Roman"/>
                        </a:rPr>
                        <a:t>Month 2</a:t>
                      </a:r>
                    </a:p>
                  </a:txBody>
                  <a:tcPr anchor="ctr" marL="64008" marR="64008">
                    <a:solidFill>
                      <a:srgbClr val="4F81BD"/>
                    </a:solidFill>
                  </a:tcPr>
                </a:tc>
                <a:tc>
                  <a:txBody>
                    <a:bodyPr/>
                    <a:lstStyle/>
                    <a:p>
                      <a:pPr algn="ctr"/>
                      <a:r>
                        <a:rPr sz="1500" b="1" i="0" u="none">
                          <a:solidFill>
                            <a:srgbClr val="FFFFFF"/>
                          </a:solidFill>
                          <a:latin typeface="Times New Roman"/>
                        </a:rPr>
                        <a:t>Month 3</a:t>
                      </a:r>
                    </a:p>
                  </a:txBody>
                  <a:tcPr anchor="ctr" marL="64008" marR="64008">
                    <a:solidFill>
                      <a:srgbClr val="4F81BD"/>
                    </a:solidFill>
                  </a:tcPr>
                </a:tc>
                <a:tc>
                  <a:txBody>
                    <a:bodyPr/>
                    <a:lstStyle/>
                    <a:p>
                      <a:pPr algn="ctr"/>
                      <a:r>
                        <a:rPr sz="1500" b="1" i="0" u="none">
                          <a:solidFill>
                            <a:srgbClr val="FFFFFF"/>
                          </a:solidFill>
                          <a:latin typeface="Times New Roman"/>
                        </a:rPr>
                        <a:t>Month 4</a:t>
                      </a:r>
                    </a:p>
                  </a:txBody>
                  <a:tcPr anchor="ctr" marL="64008" marR="64008">
                    <a:solidFill>
                      <a:srgbClr val="4F81BD"/>
                    </a:solidFill>
                  </a:tcPr>
                </a:tc>
                <a:tc>
                  <a:txBody>
                    <a:bodyPr/>
                    <a:lstStyle/>
                    <a:p>
                      <a:pPr algn="ctr"/>
                      <a:r>
                        <a:rPr sz="1500" b="1" i="0" u="none">
                          <a:solidFill>
                            <a:srgbClr val="FFFFFF"/>
                          </a:solidFill>
                          <a:latin typeface="Times New Roman"/>
                        </a:rPr>
                        <a:t>Month 5</a:t>
                      </a:r>
                    </a:p>
                  </a:txBody>
                  <a:tcPr anchor="ctr" marL="64008" marR="64008">
                    <a:solidFill>
                      <a:srgbClr val="4F81BD"/>
                    </a:solidFill>
                  </a:tcPr>
                </a:tc>
              </a:tr>
              <a:tr h="676655">
                <a:tc>
                  <a:txBody>
                    <a:bodyPr/>
                    <a:lstStyle/>
                    <a:p>
                      <a:pPr algn="l"/>
                      <a:r>
                        <a:rPr sz="1500" b="1" i="0" u="none">
                          <a:solidFill>
                            <a:srgbClr val="000000"/>
                          </a:solidFill>
                          <a:latin typeface="Times New Roman"/>
                        </a:rPr>
                        <a:t>Milestone 1: </a:t>
                      </a:r>
                      <a:r>
                        <a:rPr sz="1500" b="0" i="0" u="none">
                          <a:solidFill>
                            <a:srgbClr val="000000"/>
                          </a:solidFill>
                          <a:latin typeface="Times New Roman"/>
                        </a:rPr>
                        <a:t>Literature Survey &amp; Base Paper Study</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r>
              <a:tr h="676655">
                <a:tc>
                  <a:txBody>
                    <a:bodyPr/>
                    <a:lstStyle/>
                    <a:p>
                      <a:pPr algn="l"/>
                      <a:r>
                        <a:rPr sz="1500" b="1" i="0" u="none">
                          <a:solidFill>
                            <a:srgbClr val="000000"/>
                          </a:solidFill>
                          <a:latin typeface="Times New Roman"/>
                        </a:rPr>
                        <a:t>Milestone 2: </a:t>
                      </a:r>
                      <a:r>
                        <a:rPr sz="1500" b="0" i="0" u="none">
                          <a:solidFill>
                            <a:srgbClr val="000000"/>
                          </a:solidFill>
                          <a:latin typeface="Times New Roman"/>
                        </a:rPr>
                        <a:t>System Architecture &amp; Dual-Layer Safety Design</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r>
              <a:tr h="676655">
                <a:tc>
                  <a:txBody>
                    <a:bodyPr/>
                    <a:lstStyle/>
                    <a:p>
                      <a:pPr algn="l"/>
                      <a:r>
                        <a:rPr sz="1500" b="1" i="0" u="none">
                          <a:solidFill>
                            <a:srgbClr val="000000"/>
                          </a:solidFill>
                          <a:latin typeface="Times New Roman"/>
                        </a:rPr>
                        <a:t>Milestone 3: </a:t>
                      </a:r>
                      <a:r>
                        <a:rPr sz="1500" b="0" i="0" u="none">
                          <a:solidFill>
                            <a:srgbClr val="000000"/>
                          </a:solidFill>
                          <a:latin typeface="Times New Roman"/>
                        </a:rPr>
                        <a:t>Mathematical Modeling &amp; KiCad Simulation</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r>
              <a:tr h="676655">
                <a:tc>
                  <a:txBody>
                    <a:bodyPr/>
                    <a:lstStyle/>
                    <a:p>
                      <a:pPr algn="l"/>
                      <a:r>
                        <a:rPr sz="1500" b="1" i="0" u="none">
                          <a:solidFill>
                            <a:srgbClr val="000000"/>
                          </a:solidFill>
                          <a:latin typeface="Times New Roman"/>
                        </a:rPr>
                        <a:t>Milestone 4: </a:t>
                      </a:r>
                      <a:r>
                        <a:rPr sz="1500" b="0" i="0" u="none">
                          <a:solidFill>
                            <a:srgbClr val="000000"/>
                          </a:solidFill>
                          <a:latin typeface="Times New Roman"/>
                        </a:rPr>
                        <a:t>Hardware Prototype: Board A &amp; Board B Bring-Up</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In Progress</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r>
              <a:tr h="676660">
                <a:tc>
                  <a:txBody>
                    <a:bodyPr/>
                    <a:lstStyle/>
                    <a:p>
                      <a:pPr algn="l"/>
                      <a:r>
                        <a:rPr sz="1500" b="1" i="0" u="none">
                          <a:solidFill>
                            <a:srgbClr val="000000"/>
                          </a:solidFill>
                          <a:latin typeface="Times New Roman"/>
                        </a:rPr>
                        <a:t>Milestone 5: </a:t>
                      </a:r>
                      <a:r>
                        <a:rPr sz="1500" b="0" i="0" u="none">
                          <a:solidFill>
                            <a:srgbClr val="000000"/>
                          </a:solidFill>
                          <a:latin typeface="Times New Roman"/>
                        </a:rPr>
                        <a:t>4S Pack Testing, Enclosure &amp; Final Viva</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Planned</a:t>
                      </a:r>
                    </a:p>
                  </a:txBody>
                  <a:tcPr anchor="ctr" marL="64008" marR="64008" marT="27432" marB="27432">
                    <a:solidFill>
                      <a:srgbClr val="D0D8E8"/>
                    </a:solidFill>
                  </a:tcPr>
                </a:tc>
              </a:tr>
            </a:tbl>
          </a:graphicData>
        </a:graphic>
      </p:graphicFrame>
      <p:sp>
        <p:nvSpPr>
          <p:cNvPr id="9" name="TextBox 8"/>
          <p:cNvSpPr txBox="1"/>
          <p:nvPr/>
        </p:nvSpPr>
        <p:spPr>
          <a:xfrm>
            <a:off x="5714999" y="5705856"/>
            <a:ext cx="2926080" cy="512064"/>
          </a:xfrm>
          <a:prstGeom prst="rect">
            <a:avLst/>
          </a:prstGeom>
          <a:noFill/>
        </p:spPr>
        <p:txBody>
          <a:bodyPr wrap="square" lIns="0" rIns="0" tIns="0" bIns="0">
            <a:noAutofit/>
          </a:bodyPr>
          <a:lstStyle/>
          <a:p>
            <a:pPr algn="r"/>
            <a:r>
              <a:rPr sz="1500" b="0" i="0" u="none">
                <a:solidFill>
                  <a:srgbClr val="000000"/>
                </a:solidFill>
                <a:latin typeface="Times New Roman"/>
              </a:rPr>
              <a:t>✓ = Completed</a:t>
            </a:r>
          </a:p>
          <a:p>
            <a:pPr algn="r"/>
            <a:r>
              <a:rPr sz="1500" b="0" i="0" u="none">
                <a:solidFill>
                  <a:srgbClr val="000000"/>
                </a:solidFill>
                <a:latin typeface="Times New Roman"/>
              </a:rPr>
              <a:t>In Progress = Current Stage (Board A Done; Board B in Progress)</a:t>
            </a:r>
          </a:p>
          <a:p>
            <a:pPr algn="r"/>
            <a:r>
              <a:rPr sz="1500" b="0" i="0" u="none">
                <a:solidFill>
                  <a:srgbClr val="000000"/>
                </a:solidFill>
                <a:latin typeface="Times New Roman"/>
              </a:rPr>
              <a:t>Planned = Stage-2 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21</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References</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384048" indent="-384048" algn="just">
              <a:lnSpc>
                <a:spcPct val="110000"/>
              </a:lnSpc>
              <a:spcAft>
                <a:spcPts val="2000"/>
              </a:spcAft>
              <a:buNone/>
            </a:pPr>
            <a:r>
              <a:rPr sz="1300" b="0" i="0" u="none">
                <a:solidFill>
                  <a:srgbClr val="000000"/>
                </a:solidFill>
                <a:latin typeface="Times New Roman"/>
              </a:rPr>
              <a:t>[1]  </a:t>
            </a:r>
            <a:r>
              <a:rPr sz="1300" b="0" i="0" u="none">
                <a:solidFill>
                  <a:srgbClr val="000000"/>
                </a:solidFill>
                <a:latin typeface="Times New Roman"/>
              </a:rPr>
              <a:t>X. Feng, M. Ouyang, X. Liu, L. Lu, Y. Xia, and X. He, “Thermal runaway mechanism of lithium ion battery for electric vehicles: A review,” Energy Storage Mater., vol. 10, pp. 246–267, Jan. 2018.</a:t>
            </a:r>
          </a:p>
          <a:p>
            <a:pPr marL="384048" indent="-384048" algn="just">
              <a:lnSpc>
                <a:spcPct val="110000"/>
              </a:lnSpc>
              <a:spcAft>
                <a:spcPts val="2000"/>
              </a:spcAft>
              <a:buNone/>
            </a:pPr>
            <a:r>
              <a:rPr sz="1300" b="0" i="0" u="none">
                <a:solidFill>
                  <a:srgbClr val="000000"/>
                </a:solidFill>
                <a:latin typeface="Times New Roman"/>
              </a:rPr>
              <a:t>[2]  </a:t>
            </a:r>
            <a:r>
              <a:rPr sz="1300" b="0" i="0" u="none">
                <a:solidFill>
                  <a:srgbClr val="000000"/>
                </a:solidFill>
                <a:latin typeface="Times New Roman"/>
              </a:rPr>
              <a:t>H. Rahimi-Eichi, U. Ojha, F. Baronti, and M.-Y. Chow, “Battery management system: An overview of its application in the smart grid and electric vehicles,” IEEE Ind. Electron. Mag., vol. 7, no. 2, pp. 4–16, Jun. 2013.</a:t>
            </a:r>
          </a:p>
          <a:p>
            <a:pPr marL="384048" indent="-384048" algn="just">
              <a:lnSpc>
                <a:spcPct val="110000"/>
              </a:lnSpc>
              <a:spcAft>
                <a:spcPts val="2000"/>
              </a:spcAft>
              <a:buNone/>
            </a:pPr>
            <a:r>
              <a:rPr sz="1300" b="0" i="0" u="none">
                <a:solidFill>
                  <a:srgbClr val="000000"/>
                </a:solidFill>
                <a:latin typeface="Times New Roman"/>
              </a:rPr>
              <a:t>[3]  </a:t>
            </a:r>
            <a:r>
              <a:rPr sz="1300" b="0" i="0" u="none">
                <a:solidFill>
                  <a:srgbClr val="000000"/>
                </a:solidFill>
                <a:latin typeface="Times New Roman"/>
              </a:rPr>
              <a:t>J. Xu, C. Shen, T. Wang, and Z. Hao, “Protection devices in commercial 18650 lithium-ion batteries,” J. Energy Storage, vol. 38, p. 102570, Jun. 2021.</a:t>
            </a:r>
          </a:p>
          <a:p>
            <a:pPr marL="384048" indent="-384048" algn="just">
              <a:lnSpc>
                <a:spcPct val="110000"/>
              </a:lnSpc>
              <a:spcAft>
                <a:spcPts val="2000"/>
              </a:spcAft>
              <a:buNone/>
            </a:pPr>
            <a:r>
              <a:rPr sz="1300" b="0" i="0" u="none">
                <a:solidFill>
                  <a:srgbClr val="000000"/>
                </a:solidFill>
                <a:latin typeface="Times New Roman"/>
              </a:rPr>
              <a:t>[4]  </a:t>
            </a:r>
            <a:r>
              <a:rPr sz="1300" b="0" i="0" u="none">
                <a:solidFill>
                  <a:srgbClr val="000000"/>
                </a:solidFill>
                <a:latin typeface="Times New Roman"/>
              </a:rPr>
              <a:t>X. Hu, K. Zhang, K. Liu, X. Lin, S. Dey, and S. Onori, “Advanced fault diagnosis for lithium-ion battery systems: A review of fault mechanisms, fault features, and diagnosis procedures,” IEEE Ind. Electron. Mag., vol. 14, no. 3, pp. 65–91, Sep. 2020.</a:t>
            </a:r>
          </a:p>
          <a:p>
            <a:pPr marL="384048" indent="-384048" algn="just">
              <a:lnSpc>
                <a:spcPct val="110000"/>
              </a:lnSpc>
              <a:spcAft>
                <a:spcPts val="2000"/>
              </a:spcAft>
              <a:buNone/>
            </a:pPr>
            <a:r>
              <a:rPr sz="1300" b="0" i="0" u="none">
                <a:solidFill>
                  <a:srgbClr val="000000"/>
                </a:solidFill>
                <a:latin typeface="Times New Roman"/>
              </a:rPr>
              <a:t>[5]  </a:t>
            </a:r>
            <a:r>
              <a:rPr sz="1300" b="0" i="0" u="none">
                <a:solidFill>
                  <a:srgbClr val="000000"/>
                </a:solidFill>
                <a:latin typeface="Times New Roman"/>
              </a:rPr>
              <a:t>G. Zhang, H. Sheng, H. Lang, and Y. Wang, “A critical review of thermal runaway prediction and early-warning methods for lithium-ion batteries,” Renewable Sustainable Energy Rev., vol. 182, p. 113379, Aug. 2023.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22</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2800" b="1" i="0" u="none">
                <a:solidFill>
                  <a:srgbClr val="000000"/>
                </a:solidFill>
                <a:latin typeface="Times New Roman"/>
              </a:rPr>
              <a:t>References (contd.)</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384048" indent="-384048" algn="just">
              <a:lnSpc>
                <a:spcPct val="110000"/>
              </a:lnSpc>
              <a:spcAft>
                <a:spcPts val="1300"/>
              </a:spcAft>
              <a:buNone/>
            </a:pPr>
            <a:r>
              <a:rPr sz="1300" b="0" i="0" u="none">
                <a:solidFill>
                  <a:srgbClr val="000000"/>
                </a:solidFill>
                <a:latin typeface="Times New Roman"/>
              </a:rPr>
              <a:t>[6]  </a:t>
            </a:r>
            <a:r>
              <a:rPr sz="1300" b="0" i="0" u="none">
                <a:solidFill>
                  <a:srgbClr val="000000"/>
                </a:solidFill>
                <a:latin typeface="Times New Roman"/>
              </a:rPr>
              <a:t>Z. Sun et al., “An online data-driven fault diagnosis and thermal runaway early warning for electric vehicle batteries,” IEEE Trans. Power Electron., vol. 37, no. 10, pp. 12636–12646, Oct. 2022.</a:t>
            </a:r>
          </a:p>
          <a:p>
            <a:pPr marL="384048" indent="-384048" algn="just">
              <a:lnSpc>
                <a:spcPct val="110000"/>
              </a:lnSpc>
              <a:spcAft>
                <a:spcPts val="1300"/>
              </a:spcAft>
              <a:buNone/>
            </a:pPr>
            <a:r>
              <a:rPr sz="1300" b="0" i="0" u="none">
                <a:solidFill>
                  <a:srgbClr val="000000"/>
                </a:solidFill>
                <a:latin typeface="Times New Roman"/>
              </a:rPr>
              <a:t>[7]  </a:t>
            </a:r>
            <a:r>
              <a:rPr sz="1300" b="0" i="0" u="none">
                <a:solidFill>
                  <a:srgbClr val="000000"/>
                </a:solidFill>
                <a:latin typeface="Times New Roman"/>
              </a:rPr>
              <a:t>O. Ojo, H. Lang, Y. Kim, X. Hu, B. Mu, and X. Lin, “A neural network based method for thermal fault detection in lithium-ion batteries,” IEEE Trans. Ind. Electron., vol. 68, no. 5, pp. 4068–4078, May 2021. (Base Paper)</a:t>
            </a:r>
          </a:p>
          <a:p>
            <a:pPr marL="384048" indent="-384048" algn="just">
              <a:lnSpc>
                <a:spcPct val="110000"/>
              </a:lnSpc>
              <a:spcAft>
                <a:spcPts val="1300"/>
              </a:spcAft>
              <a:buNone/>
            </a:pPr>
            <a:r>
              <a:rPr sz="1300" b="0" i="0" u="none">
                <a:solidFill>
                  <a:srgbClr val="000000"/>
                </a:solidFill>
                <a:latin typeface="Times New Roman"/>
              </a:rPr>
              <a:t>[8]  </a:t>
            </a:r>
            <a:r>
              <a:rPr sz="1300" b="0" i="0" u="none">
                <a:solidFill>
                  <a:srgbClr val="000000"/>
                </a:solidFill>
                <a:latin typeface="Times New Roman"/>
              </a:rPr>
              <a:t>Q. Chen, Y. He, N. Fang, and G. Yu, “A combined data-driven and model-based algorithm for accurate battery thermal runaway warning,” Sensors, vol. 24, no. 15, Art. no. 4964, Jul. 2024.</a:t>
            </a:r>
          </a:p>
          <a:p>
            <a:pPr marL="384048" indent="-384048" algn="just">
              <a:lnSpc>
                <a:spcPct val="110000"/>
              </a:lnSpc>
              <a:spcAft>
                <a:spcPts val="1300"/>
              </a:spcAft>
              <a:buNone/>
            </a:pPr>
            <a:r>
              <a:rPr sz="1300" b="0" i="0" u="none">
                <a:solidFill>
                  <a:srgbClr val="000000"/>
                </a:solidFill>
                <a:latin typeface="Times New Roman"/>
              </a:rPr>
              <a:t>[9]  </a:t>
            </a:r>
            <a:r>
              <a:rPr sz="1300" b="0" i="0" u="none">
                <a:solidFill>
                  <a:srgbClr val="000000"/>
                </a:solidFill>
                <a:latin typeface="Times New Roman"/>
              </a:rPr>
              <a:t>X. Lin et al., “Online parameterization of lumped thermal dynamics in cylindrical lithium ion batteries for core temperature estimation and health monitoring,” IEEE Trans. Control Syst. Technol., vol. 21, no. 5, pp. 1745–1755, Sep. 2013.</a:t>
            </a:r>
          </a:p>
          <a:p>
            <a:pPr marL="384048" indent="-384048" algn="just">
              <a:lnSpc>
                <a:spcPct val="110000"/>
              </a:lnSpc>
              <a:spcAft>
                <a:spcPts val="1300"/>
              </a:spcAft>
              <a:buNone/>
            </a:pPr>
            <a:r>
              <a:rPr sz="1300" b="0" i="0" u="none">
                <a:solidFill>
                  <a:srgbClr val="000000"/>
                </a:solidFill>
                <a:latin typeface="Times New Roman"/>
              </a:rPr>
              <a:t>[10]  </a:t>
            </a:r>
            <a:r>
              <a:rPr sz="1300" b="0" i="0" u="none">
                <a:solidFill>
                  <a:srgbClr val="000000"/>
                </a:solidFill>
                <a:latin typeface="Times New Roman"/>
              </a:rPr>
              <a:t>N. Adhikaree, T. Kim, J. Vagdoda, A. Ochoa, P. J. Hernandez, and Y. Lee, “Cloud-based battery condition monitoring platform for large-scale BESS using IoT,” in Proc. IEEE IECON, 2017, pp. 1004–1009.</a:t>
            </a:r>
          </a:p>
          <a:p>
            <a:pPr marL="384048" indent="-384048" algn="just">
              <a:lnSpc>
                <a:spcPct val="110000"/>
              </a:lnSpc>
              <a:spcAft>
                <a:spcPts val="1300"/>
              </a:spcAft>
              <a:buNone/>
            </a:pPr>
            <a:r>
              <a:rPr sz="1300" b="0" i="0" u="none">
                <a:solidFill>
                  <a:srgbClr val="000000"/>
                </a:solidFill>
                <a:latin typeface="Times New Roman"/>
              </a:rPr>
              <a:t>[11]  </a:t>
            </a:r>
            <a:r>
              <a:rPr sz="1300" b="0" i="0" u="none">
                <a:solidFill>
                  <a:srgbClr val="000000"/>
                </a:solidFill>
                <a:latin typeface="Times New Roman"/>
              </a:rPr>
              <a:t>L. Torres-Castro, A. M. Bates, N. B. Johnson, G. Quintana, and L. Gray, “Early detection of Li-ion battery thermal runaway using commercial diagnostic technologies,” J. Electrochem. Soc., vol. 171, no. 2, Art. no. 020520, Feb. 2024.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23</a:t>
            </a:r>
          </a:p>
        </p:txBody>
      </p:sp>
      <p:sp>
        <p:nvSpPr>
          <p:cNvPr id="7" name="TextBox 6"/>
          <p:cNvSpPr txBox="1"/>
          <p:nvPr/>
        </p:nvSpPr>
        <p:spPr>
          <a:xfrm>
            <a:off x="1188720" y="2514600"/>
            <a:ext cx="6766560" cy="1828800"/>
          </a:xfrm>
          <a:prstGeom prst="rect">
            <a:avLst/>
          </a:prstGeom>
          <a:noFill/>
        </p:spPr>
        <p:txBody>
          <a:bodyPr wrap="square" lIns="0" rIns="0" tIns="0" bIns="0">
            <a:noAutofit/>
          </a:bodyPr>
          <a:lstStyle/>
          <a:p>
            <a:pPr algn="ctr"/>
            <a:r>
              <a:rPr sz="5400" b="0" i="0" u="none">
                <a:solidFill>
                  <a:srgbClr val="000000"/>
                </a:solidFill>
                <a:latin typeface="Times New Roman"/>
              </a:rPr>
              <a:t>Thank You</a:t>
            </a:r>
          </a:p>
          <a:p>
            <a:pPr algn="ctr"/>
            <a:r>
              <a:rPr sz="1800" b="0" i="0" u="none">
                <a:solidFill>
                  <a:srgbClr val="000000"/>
                </a:solidFill>
                <a:latin typeface="Times New Roman"/>
              </a:rPr>
              <a:t/>
            </a:r>
          </a:p>
          <a:p>
            <a:pPr algn="ctr"/>
            <a:r>
              <a:rPr sz="2000" b="0" i="0" u="none">
                <a:solidFill>
                  <a:srgbClr val="002060"/>
                </a:solidFill>
                <a:latin typeface="Times New Roman"/>
              </a:rPr>
              <a:t>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